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9"/>
  </p:notesMasterIdLst>
  <p:sldIdLst>
    <p:sldId id="264" r:id="rId2"/>
    <p:sldId id="841" r:id="rId3"/>
    <p:sldId id="873" r:id="rId4"/>
    <p:sldId id="875" r:id="rId5"/>
    <p:sldId id="876" r:id="rId6"/>
    <p:sldId id="886" r:id="rId7"/>
    <p:sldId id="887" r:id="rId8"/>
    <p:sldId id="888" r:id="rId9"/>
    <p:sldId id="891" r:id="rId10"/>
    <p:sldId id="809" r:id="rId11"/>
    <p:sldId id="829" r:id="rId12"/>
    <p:sldId id="895" r:id="rId13"/>
    <p:sldId id="835" r:id="rId14"/>
    <p:sldId id="742" r:id="rId15"/>
    <p:sldId id="892" r:id="rId16"/>
    <p:sldId id="810" r:id="rId17"/>
    <p:sldId id="833" r:id="rId18"/>
    <p:sldId id="893" r:id="rId19"/>
    <p:sldId id="836" r:id="rId20"/>
    <p:sldId id="811" r:id="rId21"/>
    <p:sldId id="815" r:id="rId22"/>
    <p:sldId id="812" r:id="rId23"/>
    <p:sldId id="816" r:id="rId24"/>
    <p:sldId id="817" r:id="rId25"/>
    <p:sldId id="818" r:id="rId26"/>
    <p:sldId id="819" r:id="rId27"/>
    <p:sldId id="822" r:id="rId28"/>
    <p:sldId id="823" r:id="rId29"/>
    <p:sldId id="824" r:id="rId30"/>
    <p:sldId id="826" r:id="rId31"/>
    <p:sldId id="894" r:id="rId32"/>
    <p:sldId id="830" r:id="rId33"/>
    <p:sldId id="831" r:id="rId34"/>
    <p:sldId id="825" r:id="rId35"/>
    <p:sldId id="820" r:id="rId36"/>
    <p:sldId id="832" r:id="rId37"/>
    <p:sldId id="267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/>
    <p:restoredTop sz="95833"/>
  </p:normalViewPr>
  <p:slideViewPr>
    <p:cSldViewPr snapToGrid="0" snapToObjects="1">
      <p:cViewPr varScale="1">
        <p:scale>
          <a:sx n="107" d="100"/>
          <a:sy n="107" d="100"/>
        </p:scale>
        <p:origin x="44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13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86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13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98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48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9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11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37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24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219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1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36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05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62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67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07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82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76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607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194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5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98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83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8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hyperlink" Target="https://cdn.openai.com/research-covers/language-unsupervised/language_understanding_paper.pdf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3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hyperlink" Target="https://cdn.openai.com/research-covers/language-unsupervised/language_understanding_paper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ngerichLab/easy-gp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karpathy/nanoGPT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pathy/nanoGP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dn.openai.com/better-language-models/language_models_are_unsupervised_multitask_learners.pdf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letter.maartengrootendorst.com/p/a-visual-guide-to-mixture-of-experts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ewsletter.maartengrootendorst.com/p/a-visual-guide-to-mixture-of-expert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toronto.edu/~fritz/absps/jjnh91.pd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s.toronto.edu/~hinton/absps/hme.pdf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6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002200009791504X" TargetMode="External"/><Relationship Id="rId5" Type="http://schemas.openxmlformats.org/officeDocument/2006/relationships/hyperlink" Target="https://link.springer.com/article/10.1007/BF00058655" TargetMode="External"/><Relationship Id="rId4" Type="http://schemas.openxmlformats.org/officeDocument/2006/relationships/hyperlink" Target="https://www.cs.toronto.edu/~fritz/absps/jjnh91.pdf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https://proceedings.neurips.cc/paper_files/paper/1995/file/1019c8091693ef5c5f55970346633f92-Paper.pdf" TargetMode="Externa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https://proceedings.neurips.cc/paper_files/paper/1995/file/1019c8091693ef5c5f55970346633f92-Paper.pdf" TargetMode="Externa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letter.maartengrootendorst.com/p/a-visual-guide-to-mixture-of-expert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207.09094" TargetMode="Externa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232930"/>
            <a:ext cx="7530353" cy="1794850"/>
          </a:xfrm>
        </p:spPr>
        <p:txBody>
          <a:bodyPr/>
          <a:lstStyle/>
          <a:p>
            <a:r>
              <a:rPr lang="en-US" dirty="0"/>
              <a:t>STAT 453: Introduction to Deep Learning and Generative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374"/>
            <a:ext cx="6159500" cy="1056379"/>
          </a:xfrm>
        </p:spPr>
        <p:txBody>
          <a:bodyPr/>
          <a:lstStyle/>
          <a:p>
            <a:r>
              <a:rPr lang="en-US" dirty="0"/>
              <a:t>Ben Lengerich</a:t>
            </a:r>
          </a:p>
          <a:p>
            <a:r>
              <a:rPr lang="en-US" sz="1400" dirty="0"/>
              <a:t>Lecture 21: GPT Architectures</a:t>
            </a:r>
          </a:p>
          <a:p>
            <a:r>
              <a:rPr lang="en-US" sz="1400" dirty="0"/>
              <a:t>November 17, 2025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12A1F24-286F-8A49-B650-F8273CA0617C}"/>
              </a:ext>
            </a:extLst>
          </p:cNvPr>
          <p:cNvSpPr txBox="1">
            <a:spLocks/>
          </p:cNvSpPr>
          <p:nvPr/>
        </p:nvSpPr>
        <p:spPr>
          <a:xfrm>
            <a:off x="457200" y="4935946"/>
            <a:ext cx="6159500" cy="412870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300" kern="12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Reading: See course homepage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A228-CB86-AA1F-DC4F-88783B34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6CE4C-9EDF-8376-013D-B7326D3D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RNN…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30EEB-2262-06EE-0B07-0E0062A1BD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DCCF5D2-5367-944F-FF74-E3942FF999E1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C18F6-4FEC-FCF0-EEEB-3F5D18382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3" y="1126392"/>
            <a:ext cx="11066417" cy="48464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D80AAA-6437-8DE3-09F9-74F883772BFD}"/>
              </a:ext>
            </a:extLst>
          </p:cNvPr>
          <p:cNvSpPr txBox="1"/>
          <p:nvPr/>
        </p:nvSpPr>
        <p:spPr>
          <a:xfrm>
            <a:off x="5176157" y="6273225"/>
            <a:ext cx="6126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Image source: Sebastian Raschka, Vahid </a:t>
            </a:r>
            <a:r>
              <a:rPr lang="en-US" sz="1600" dirty="0" err="1"/>
              <a:t>Mirjalili</a:t>
            </a:r>
            <a:r>
              <a:rPr lang="en-US" sz="1600" dirty="0"/>
              <a:t>. Python Machine Learning. 3rd Edition. </a:t>
            </a:r>
            <a:r>
              <a:rPr lang="en-US" sz="1600" dirty="0" err="1"/>
              <a:t>Packt</a:t>
            </a:r>
            <a:r>
              <a:rPr lang="en-US" sz="1600" dirty="0"/>
              <a:t>, 2019</a:t>
            </a:r>
          </a:p>
        </p:txBody>
      </p:sp>
    </p:spTree>
    <p:extLst>
      <p:ext uri="{BB962C8B-B14F-4D97-AF65-F5344CB8AC3E}">
        <p14:creationId xmlns:p14="http://schemas.microsoft.com/office/powerpoint/2010/main" val="322601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7CFD4-AC26-5BB0-F6A2-9ED4AB6D2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E165-16D9-DFD8-A14D-7F9779EA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RNN…to GPT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61D7F-29ED-3FF7-CCB8-E9B8FBAB4A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8173794-5FEF-A850-E265-E425A8836ED4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FA786C-E0E3-CAEC-F49E-AB6E4B4F1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3" y="1126392"/>
            <a:ext cx="11066417" cy="48464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32B4BC-017C-D20E-F395-36BAD20AA32C}"/>
              </a:ext>
            </a:extLst>
          </p:cNvPr>
          <p:cNvSpPr txBox="1"/>
          <p:nvPr/>
        </p:nvSpPr>
        <p:spPr>
          <a:xfrm>
            <a:off x="5176157" y="6273225"/>
            <a:ext cx="6126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Image source: Sebastian Raschka, Vahid </a:t>
            </a:r>
            <a:r>
              <a:rPr lang="en-US" sz="1600" dirty="0" err="1"/>
              <a:t>Mirjalili</a:t>
            </a:r>
            <a:r>
              <a:rPr lang="en-US" sz="1600" dirty="0"/>
              <a:t>. Python Machine Learning. 3rd Edition. </a:t>
            </a:r>
            <a:r>
              <a:rPr lang="en-US" sz="1600" dirty="0" err="1"/>
              <a:t>Packt</a:t>
            </a:r>
            <a:r>
              <a:rPr lang="en-US" sz="1600" dirty="0"/>
              <a:t>, 2019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926D495-DA74-E598-98A1-76A9EF5BBECF}"/>
                  </a:ext>
                </a:extLst>
              </p:cNvPr>
              <p:cNvSpPr/>
              <p:nvPr/>
            </p:nvSpPr>
            <p:spPr>
              <a:xfrm>
                <a:off x="557784" y="1636776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D926D495-DA74-E598-98A1-76A9EF5BBE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4" y="1636776"/>
                <a:ext cx="1179576" cy="8412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6A7B120-EC25-BCEB-9AA1-79935C59546A}"/>
                  </a:ext>
                </a:extLst>
              </p:cNvPr>
              <p:cNvSpPr/>
              <p:nvPr/>
            </p:nvSpPr>
            <p:spPr>
              <a:xfrm>
                <a:off x="5366004" y="1643457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6A7B120-EC25-BCEB-9AA1-79935C5954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004" y="1643457"/>
                <a:ext cx="1179576" cy="84124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E4A923E-11D2-2A5E-3201-8EDE751BF85B}"/>
                  </a:ext>
                </a:extLst>
              </p:cNvPr>
              <p:cNvSpPr/>
              <p:nvPr/>
            </p:nvSpPr>
            <p:spPr>
              <a:xfrm>
                <a:off x="7224522" y="1636776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0E4A923E-11D2-2A5E-3201-8EDE751BF8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522" y="1636776"/>
                <a:ext cx="1179576" cy="8412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517971E5-9669-72E5-E486-E96A029210DE}"/>
                  </a:ext>
                </a:extLst>
              </p:cNvPr>
              <p:cNvSpPr/>
              <p:nvPr/>
            </p:nvSpPr>
            <p:spPr>
              <a:xfrm>
                <a:off x="8986266" y="1636776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517971E5-9669-72E5-E486-E96A02921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6266" y="1636776"/>
                <a:ext cx="1179576" cy="8412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98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38C02-0281-59F4-D940-D8E506C0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C6B1F-E35B-EED4-722D-10E2A9C3F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RNN…to GPT…by Transformers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C71A6-453C-3E1C-95EA-68A6E36985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8C21D3C-4CD2-D212-4D13-A934573A6681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DF63A1-8B80-30AF-EC91-9071DD3737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31" b="12679"/>
          <a:stretch>
            <a:fillRect/>
          </a:stretch>
        </p:blipFill>
        <p:spPr>
          <a:xfrm>
            <a:off x="287383" y="1636776"/>
            <a:ext cx="11066417" cy="3721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C4DDEF-A2F2-A7DC-09D7-788125DB8312}"/>
              </a:ext>
            </a:extLst>
          </p:cNvPr>
          <p:cNvSpPr txBox="1"/>
          <p:nvPr/>
        </p:nvSpPr>
        <p:spPr>
          <a:xfrm>
            <a:off x="5176157" y="6273225"/>
            <a:ext cx="6126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Image source: Sebastian Raschka, Vahid </a:t>
            </a:r>
            <a:r>
              <a:rPr lang="en-US" sz="1600" dirty="0" err="1"/>
              <a:t>Mirjalili</a:t>
            </a:r>
            <a:r>
              <a:rPr lang="en-US" sz="1600" dirty="0"/>
              <a:t>. Python Machine Learning. 3rd Edition. </a:t>
            </a:r>
            <a:r>
              <a:rPr lang="en-US" sz="1600" dirty="0" err="1"/>
              <a:t>Packt</a:t>
            </a:r>
            <a:r>
              <a:rPr lang="en-US" sz="1600" dirty="0"/>
              <a:t>, 2019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2B7507-B938-FC53-2C76-48D2ACFB6B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3" t="7695" b="6870"/>
          <a:stretch>
            <a:fillRect/>
          </a:stretch>
        </p:blipFill>
        <p:spPr>
          <a:xfrm>
            <a:off x="5206956" y="2491386"/>
            <a:ext cx="1497671" cy="2034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0E514E-4ED7-8A0F-9EC0-BE64DBB379A5}"/>
              </a:ext>
            </a:extLst>
          </p:cNvPr>
          <p:cNvSpPr txBox="1"/>
          <p:nvPr/>
        </p:nvSpPr>
        <p:spPr>
          <a:xfrm>
            <a:off x="4654295" y="5454557"/>
            <a:ext cx="6117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Vaswani, A., </a:t>
            </a:r>
            <a:r>
              <a:rPr lang="en-US" sz="1200" dirty="0" err="1"/>
              <a:t>Shazeer</a:t>
            </a:r>
            <a:r>
              <a:rPr lang="en-US" sz="1200" dirty="0"/>
              <a:t>, N., Parmar, N., </a:t>
            </a:r>
            <a:r>
              <a:rPr lang="en-US" sz="1200" dirty="0" err="1"/>
              <a:t>Uszkoreit</a:t>
            </a:r>
            <a:r>
              <a:rPr lang="en-US" sz="1200" dirty="0"/>
              <a:t>, J., Jones, L., Gomez, A.N., Kaiser, L. and </a:t>
            </a:r>
            <a:r>
              <a:rPr lang="en-US" sz="1200" dirty="0" err="1"/>
              <a:t>Polosukhin</a:t>
            </a:r>
            <a:r>
              <a:rPr lang="en-US" sz="1200" dirty="0"/>
              <a:t>, I., 2017. Attention Is All You Need.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966B62-ADA9-A781-AA16-617274C42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3" t="7695" b="6870"/>
          <a:stretch>
            <a:fillRect/>
          </a:stretch>
        </p:blipFill>
        <p:spPr>
          <a:xfrm>
            <a:off x="7065474" y="2480310"/>
            <a:ext cx="1497671" cy="2034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1393AC-D01E-B88E-DDCD-FAF0F72248C3}"/>
              </a:ext>
            </a:extLst>
          </p:cNvPr>
          <p:cNvCxnSpPr>
            <a:cxnSpLocks/>
          </p:cNvCxnSpPr>
          <p:nvPr/>
        </p:nvCxnSpPr>
        <p:spPr>
          <a:xfrm>
            <a:off x="6545580" y="2064081"/>
            <a:ext cx="1431745" cy="225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88634D6-A3D4-1DC9-4819-223F49B112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23" t="7695" b="6870"/>
          <a:stretch>
            <a:fillRect/>
          </a:stretch>
        </p:blipFill>
        <p:spPr>
          <a:xfrm>
            <a:off x="8827218" y="2491386"/>
            <a:ext cx="1497671" cy="2034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5979B9-E0E2-365D-F093-AE1192368F8A}"/>
              </a:ext>
            </a:extLst>
          </p:cNvPr>
          <p:cNvCxnSpPr>
            <a:cxnSpLocks/>
          </p:cNvCxnSpPr>
          <p:nvPr/>
        </p:nvCxnSpPr>
        <p:spPr>
          <a:xfrm>
            <a:off x="8400446" y="2070969"/>
            <a:ext cx="1374490" cy="2249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CE56319-43AE-E932-0373-96896B864C40}"/>
              </a:ext>
            </a:extLst>
          </p:cNvPr>
          <p:cNvCxnSpPr>
            <a:cxnSpLocks/>
          </p:cNvCxnSpPr>
          <p:nvPr/>
        </p:nvCxnSpPr>
        <p:spPr>
          <a:xfrm flipV="1">
            <a:off x="5724144" y="4320840"/>
            <a:ext cx="0" cy="20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3C82B04-D7DD-9829-DD6F-A373BEB343DB}"/>
              </a:ext>
            </a:extLst>
          </p:cNvPr>
          <p:cNvCxnSpPr>
            <a:cxnSpLocks/>
          </p:cNvCxnSpPr>
          <p:nvPr/>
        </p:nvCxnSpPr>
        <p:spPr>
          <a:xfrm flipV="1">
            <a:off x="7534274" y="4357850"/>
            <a:ext cx="0" cy="168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DA33C9B-D003-9F10-EEC1-1613ED5B4F31}"/>
              </a:ext>
            </a:extLst>
          </p:cNvPr>
          <p:cNvCxnSpPr>
            <a:cxnSpLocks/>
          </p:cNvCxnSpPr>
          <p:nvPr/>
        </p:nvCxnSpPr>
        <p:spPr>
          <a:xfrm flipV="1">
            <a:off x="9276968" y="4368926"/>
            <a:ext cx="0" cy="156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10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3CB07-D19F-A272-2C3D-7439E031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8FEC89-221F-9029-4BE2-A3228AB4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31" b="12679"/>
          <a:stretch>
            <a:fillRect/>
          </a:stretch>
        </p:blipFill>
        <p:spPr>
          <a:xfrm>
            <a:off x="287383" y="1636776"/>
            <a:ext cx="11066417" cy="3721608"/>
          </a:xfrm>
          <a:prstGeom prst="rect">
            <a:avLst/>
          </a:prstGeom>
        </p:spPr>
      </p:pic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BDD62DA-B71D-078A-5372-D1F2DAF97041}"/>
              </a:ext>
            </a:extLst>
          </p:cNvPr>
          <p:cNvSpPr/>
          <p:nvPr/>
        </p:nvSpPr>
        <p:spPr>
          <a:xfrm>
            <a:off x="5366003" y="2491386"/>
            <a:ext cx="5049007" cy="202117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D17F1-64A6-D8BC-7E23-9902FE00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RNN…to GPT…by Transformers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12370-6EB2-EC91-6D85-C2F2050D7C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C44884-267C-0E71-968D-6B0AFE623654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91854-01A5-44F1-BAF9-EAACB136E530}"/>
              </a:ext>
            </a:extLst>
          </p:cNvPr>
          <p:cNvSpPr txBox="1"/>
          <p:nvPr/>
        </p:nvSpPr>
        <p:spPr>
          <a:xfrm>
            <a:off x="5176157" y="6273225"/>
            <a:ext cx="6126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Image source: Sebastian Raschka, Vahid </a:t>
            </a:r>
            <a:r>
              <a:rPr lang="en-US" sz="1600" dirty="0" err="1"/>
              <a:t>Mirjalili</a:t>
            </a:r>
            <a:r>
              <a:rPr lang="en-US" sz="1600" dirty="0"/>
              <a:t>. Python Machine Learning. 3rd Edition. </a:t>
            </a:r>
            <a:r>
              <a:rPr lang="en-US" sz="1600" dirty="0" err="1"/>
              <a:t>Packt</a:t>
            </a:r>
            <a:r>
              <a:rPr lang="en-US" sz="1600" dirty="0"/>
              <a:t>, 2019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393980A-65DB-7264-C73F-8497C1B3C5E1}"/>
                  </a:ext>
                </a:extLst>
              </p:cNvPr>
              <p:cNvSpPr/>
              <p:nvPr/>
            </p:nvSpPr>
            <p:spPr>
              <a:xfrm>
                <a:off x="557784" y="1636776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393980A-65DB-7264-C73F-8497C1B3C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84" y="1636776"/>
                <a:ext cx="1179576" cy="84124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BCDEE72-D61C-7DDA-5356-20439B712D8A}"/>
                  </a:ext>
                </a:extLst>
              </p:cNvPr>
              <p:cNvSpPr/>
              <p:nvPr/>
            </p:nvSpPr>
            <p:spPr>
              <a:xfrm>
                <a:off x="5366004" y="1643457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BCDEE72-D61C-7DDA-5356-20439B712D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004" y="1643457"/>
                <a:ext cx="1179576" cy="84124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C2557F2A-5B16-932A-C0D0-31A0CE42941C}"/>
                  </a:ext>
                </a:extLst>
              </p:cNvPr>
              <p:cNvSpPr/>
              <p:nvPr/>
            </p:nvSpPr>
            <p:spPr>
              <a:xfrm>
                <a:off x="7224522" y="1636776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C2557F2A-5B16-932A-C0D0-31A0CE429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522" y="1636776"/>
                <a:ext cx="1179576" cy="84124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FA9C16F-151C-E364-1E23-CB5ED103748B}"/>
                  </a:ext>
                </a:extLst>
              </p:cNvPr>
              <p:cNvSpPr/>
              <p:nvPr/>
            </p:nvSpPr>
            <p:spPr>
              <a:xfrm>
                <a:off x="8986266" y="1636776"/>
                <a:ext cx="1179576" cy="84124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FA9C16F-151C-E364-1E23-CB5ED10374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6266" y="1636776"/>
                <a:ext cx="1179576" cy="84124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30CE0C6-C41F-7152-1E3E-AF86460D5D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23" t="7695" r="47462" b="6870"/>
          <a:stretch>
            <a:fillRect/>
          </a:stretch>
        </p:blipFill>
        <p:spPr>
          <a:xfrm>
            <a:off x="5581565" y="2491386"/>
            <a:ext cx="748454" cy="2034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64AFF9-FCEE-3A1E-7F7C-C03EF13C516E}"/>
              </a:ext>
            </a:extLst>
          </p:cNvPr>
          <p:cNvSpPr txBox="1"/>
          <p:nvPr/>
        </p:nvSpPr>
        <p:spPr>
          <a:xfrm>
            <a:off x="4654295" y="5454557"/>
            <a:ext cx="6117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Vaswani, A., </a:t>
            </a:r>
            <a:r>
              <a:rPr lang="en-US" sz="1200" dirty="0" err="1"/>
              <a:t>Shazeer</a:t>
            </a:r>
            <a:r>
              <a:rPr lang="en-US" sz="1200" dirty="0"/>
              <a:t>, N., Parmar, N., </a:t>
            </a:r>
            <a:r>
              <a:rPr lang="en-US" sz="1200" dirty="0" err="1"/>
              <a:t>Uszkoreit</a:t>
            </a:r>
            <a:r>
              <a:rPr lang="en-US" sz="1200" dirty="0"/>
              <a:t>, J., Jones, L., Gomez, A.N., Kaiser, L. and </a:t>
            </a:r>
            <a:r>
              <a:rPr lang="en-US" sz="1200" dirty="0" err="1"/>
              <a:t>Polosukhin</a:t>
            </a:r>
            <a:r>
              <a:rPr lang="en-US" sz="1200" dirty="0"/>
              <a:t>, I., 2017. Attention Is All You Need.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7457BB-273E-C0AF-36DF-647F7BB2B81F}"/>
              </a:ext>
            </a:extLst>
          </p:cNvPr>
          <p:cNvCxnSpPr>
            <a:cxnSpLocks/>
          </p:cNvCxnSpPr>
          <p:nvPr/>
        </p:nvCxnSpPr>
        <p:spPr>
          <a:xfrm flipV="1">
            <a:off x="6059424" y="4320840"/>
            <a:ext cx="0" cy="20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100AC9B-643A-6FCA-6BB1-F85553DC68E4}"/>
              </a:ext>
            </a:extLst>
          </p:cNvPr>
          <p:cNvCxnSpPr>
            <a:cxnSpLocks/>
          </p:cNvCxnSpPr>
          <p:nvPr/>
        </p:nvCxnSpPr>
        <p:spPr>
          <a:xfrm flipV="1">
            <a:off x="6071616" y="2491386"/>
            <a:ext cx="0" cy="623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18AB1065-2E2A-2EFC-8BEC-6D2CCC4F36A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23" t="7695" r="47462" b="6870"/>
          <a:stretch>
            <a:fillRect/>
          </a:stretch>
        </p:blipFill>
        <p:spPr>
          <a:xfrm>
            <a:off x="7391696" y="2478024"/>
            <a:ext cx="748454" cy="2034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3C7BE14-670F-BBC2-7717-5BE701446C13}"/>
              </a:ext>
            </a:extLst>
          </p:cNvPr>
          <p:cNvCxnSpPr>
            <a:cxnSpLocks/>
          </p:cNvCxnSpPr>
          <p:nvPr/>
        </p:nvCxnSpPr>
        <p:spPr>
          <a:xfrm flipV="1">
            <a:off x="7869555" y="4307478"/>
            <a:ext cx="0" cy="20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5290BC-3820-C10D-60F0-7D8C70399C38}"/>
              </a:ext>
            </a:extLst>
          </p:cNvPr>
          <p:cNvCxnSpPr>
            <a:cxnSpLocks/>
          </p:cNvCxnSpPr>
          <p:nvPr/>
        </p:nvCxnSpPr>
        <p:spPr>
          <a:xfrm flipV="1">
            <a:off x="7881747" y="2478024"/>
            <a:ext cx="0" cy="623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69C1DB89-D865-8564-B560-52E2C66A02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23" t="7695" r="47462" b="6870"/>
          <a:stretch>
            <a:fillRect/>
          </a:stretch>
        </p:blipFill>
        <p:spPr>
          <a:xfrm>
            <a:off x="9086002" y="2491386"/>
            <a:ext cx="748454" cy="2034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4E1BED-D0F7-DDFE-3CE4-AB612FEBA6B5}"/>
              </a:ext>
            </a:extLst>
          </p:cNvPr>
          <p:cNvCxnSpPr>
            <a:cxnSpLocks/>
          </p:cNvCxnSpPr>
          <p:nvPr/>
        </p:nvCxnSpPr>
        <p:spPr>
          <a:xfrm flipV="1">
            <a:off x="9563861" y="4320840"/>
            <a:ext cx="0" cy="205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4727DB-DE3A-0801-7906-376C0AF0EEC9}"/>
              </a:ext>
            </a:extLst>
          </p:cNvPr>
          <p:cNvCxnSpPr>
            <a:cxnSpLocks/>
          </p:cNvCxnSpPr>
          <p:nvPr/>
        </p:nvCxnSpPr>
        <p:spPr>
          <a:xfrm flipV="1">
            <a:off x="9576053" y="2491386"/>
            <a:ext cx="0" cy="623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658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5906-AF72-DCE0-C11F-098342CA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2B3E-B9DC-A623-CD0F-3C1BACD2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(very basic form)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1E207-C58C-B4B0-218D-BF6841980D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D15E243-E039-6C75-A6B8-C85BA230BD37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64A49-DADF-126D-07F9-AC55D751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214" y="1436467"/>
            <a:ext cx="10009572" cy="5096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229B13-CED4-543C-B0DA-F6CABA2ED9A4}"/>
              </a:ext>
            </a:extLst>
          </p:cNvPr>
          <p:cNvSpPr txBox="1"/>
          <p:nvPr/>
        </p:nvSpPr>
        <p:spPr>
          <a:xfrm>
            <a:off x="7903029" y="665811"/>
            <a:ext cx="31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No learnable parameters?</a:t>
            </a:r>
          </a:p>
        </p:txBody>
      </p:sp>
    </p:spTree>
    <p:extLst>
      <p:ext uri="{BB962C8B-B14F-4D97-AF65-F5344CB8AC3E}">
        <p14:creationId xmlns:p14="http://schemas.microsoft.com/office/powerpoint/2010/main" val="56177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1FCE-86DC-102E-94D5-67F7401C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1A1D-B150-3EEC-B578-5644C042B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Learnable Self-attention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AA5FB-35B9-92E6-A271-D90FACE5B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F6F0B67-6540-4C35-8248-612DF7288B17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8D757-178D-F4BD-C76D-3D969A5B0439}"/>
              </a:ext>
            </a:extLst>
          </p:cNvPr>
          <p:cNvSpPr txBox="1"/>
          <p:nvPr/>
        </p:nvSpPr>
        <p:spPr>
          <a:xfrm>
            <a:off x="973182" y="1568303"/>
            <a:ext cx="102739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Previous basic version did not involve any learnable parameters, so not very useful for learning a language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We are now adding 3 trainable weight matrices that are multiplied with the input sequence embeddings</a:t>
            </a:r>
          </a:p>
        </p:txBody>
      </p:sp>
      <p:pic>
        <p:nvPicPr>
          <p:cNvPr id="12" name="Picture 1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F245975-FA85-D210-38B5-C59C31D97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664" y="3198014"/>
            <a:ext cx="3694671" cy="24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1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2C834-DE48-7B4F-3313-A5F91F3D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41D2-9B1B-F7F6-36D3-46378F9B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Learnable Self-attention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5ECBD-8F10-62AB-5895-8756C85586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0DF58CA-79A0-0204-7F13-1D7ED07D7C4B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45040-6CA9-66D1-D6D6-3E8DC4E4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050" y="1219199"/>
            <a:ext cx="9218431" cy="545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310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A40DC-F6F5-2EC3-A6C2-A77630D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F27DB-DF92-88E4-BCC7-38CC77C25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the end of the day…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64287-4AE6-8AEF-8DA9-436DE42A3A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16EFF56-5B29-EE95-7D06-501B45168FC8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0C317-77D5-A634-105F-D481DDCC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71"/>
          <a:stretch>
            <a:fillRect/>
          </a:stretch>
        </p:blipFill>
        <p:spPr>
          <a:xfrm>
            <a:off x="2209800" y="1219198"/>
            <a:ext cx="7772400" cy="530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1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”Transformer”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pic>
        <p:nvPicPr>
          <p:cNvPr id="8" name="Picture 7" descr="A close-up of a group of business cards&#10;&#10;Description automatically generated">
            <a:extLst>
              <a:ext uri="{FF2B5EF4-FFF2-40B4-BE49-F238E27FC236}">
                <a16:creationId xmlns:a16="http://schemas.microsoft.com/office/drawing/2014/main" id="{AD4F25DF-6083-0D4C-ADDC-F54BDF5BF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29" y="1417359"/>
            <a:ext cx="6152244" cy="3762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A8D6708-7660-534D-900D-A163B989E4B8}"/>
              </a:ext>
            </a:extLst>
          </p:cNvPr>
          <p:cNvGrpSpPr/>
          <p:nvPr/>
        </p:nvGrpSpPr>
        <p:grpSpPr>
          <a:xfrm>
            <a:off x="1404358" y="5248543"/>
            <a:ext cx="5871701" cy="1087352"/>
            <a:chOff x="6096000" y="209664"/>
            <a:chExt cx="5871701" cy="1087352"/>
          </a:xfrm>
        </p:grpSpPr>
        <p:pic>
          <p:nvPicPr>
            <p:cNvPr id="5" name="Picture 4" descr="A close-up of a text&#10;&#10;Description automatically generated">
              <a:extLst>
                <a:ext uri="{FF2B5EF4-FFF2-40B4-BE49-F238E27FC236}">
                  <a16:creationId xmlns:a16="http://schemas.microsoft.com/office/drawing/2014/main" id="{AA8B71B7-45BE-D044-A3D9-91288128C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09664"/>
              <a:ext cx="5871701" cy="108735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04EBAD-5ED2-6F4F-B950-3396B13248F8}"/>
                </a:ext>
              </a:extLst>
            </p:cNvPr>
            <p:cNvSpPr/>
            <p:nvPr/>
          </p:nvSpPr>
          <p:spPr>
            <a:xfrm>
              <a:off x="7281017" y="1054389"/>
              <a:ext cx="1076770" cy="1851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0FBD4747-E01B-8749-8546-F95455E54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873" y="429691"/>
            <a:ext cx="4205927" cy="633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5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D18D-741E-F747-20FD-59AEDE48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41D7D-815F-E323-F75B-2A7B194F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variants of transformer architectures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57C35-44BB-0281-C424-6FF8AC5A1B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BFF3323-9947-5BB6-51D6-49F570E23AB5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Ben Lengerich © University of Wisconsin-Madison 2025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C90A0B-AD56-08B7-C428-C25CF126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443" y="1219200"/>
            <a:ext cx="9437655" cy="531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8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FCFA-DB67-8BB2-64E7-6D232B11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C5CC-BF24-8181-D5EE-94540B8A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variants of transformer architectures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AA7C8-474E-D33D-29F8-CC87E8ACF1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1B1A744-B184-F521-E08A-F758E9AE32F8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52B32-173D-2DEE-7B87-2B50FC7BF0FB}"/>
              </a:ext>
            </a:extLst>
          </p:cNvPr>
          <p:cNvSpPr txBox="1"/>
          <p:nvPr/>
        </p:nvSpPr>
        <p:spPr>
          <a:xfrm>
            <a:off x="1284514" y="1680755"/>
            <a:ext cx="924197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Some early transformer architectures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GPT-v1:</a:t>
            </a: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Generative Pre-Trained Transformer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BERT:</a:t>
            </a: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Bidirectional Encoder Representations from Transformers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GPT-v2:</a:t>
            </a: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Language Models are Unsupervised Multitask Learners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GPT-v3:</a:t>
            </a: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Language Models are Few-Shot Learners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BART:</a:t>
            </a: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Combining Bidirectional and Auto-Regressive Transformers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Closing Words -- The Recent Growth of Language Transformers</a:t>
            </a:r>
          </a:p>
        </p:txBody>
      </p:sp>
    </p:spTree>
    <p:extLst>
      <p:ext uri="{BB962C8B-B14F-4D97-AF65-F5344CB8AC3E}">
        <p14:creationId xmlns:p14="http://schemas.microsoft.com/office/powerpoint/2010/main" val="3198795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E23E-8BA9-FDCC-E798-E329717C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573E5-4C88-8CF5-9BB5-A1A0CDDDAF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1524000"/>
            <a:ext cx="9829800" cy="594009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C00000"/>
                </a:solidFill>
              </a:rPr>
              <a:t>G</a:t>
            </a:r>
            <a:r>
              <a:rPr lang="en-US" sz="3600" b="1" dirty="0">
                <a:solidFill>
                  <a:schemeClr val="tx1"/>
                </a:solidFill>
              </a:rPr>
              <a:t>enerative</a:t>
            </a:r>
            <a:r>
              <a:rPr lang="en-US" sz="3600" b="1" dirty="0">
                <a:solidFill>
                  <a:srgbClr val="C00000"/>
                </a:solidFill>
              </a:rPr>
              <a:t> P</a:t>
            </a:r>
            <a:r>
              <a:rPr lang="en-US" sz="3600" b="1" dirty="0">
                <a:solidFill>
                  <a:schemeClr val="tx1"/>
                </a:solidFill>
              </a:rPr>
              <a:t>re-Trained</a:t>
            </a:r>
            <a:r>
              <a:rPr lang="en-US" sz="3600" b="1" dirty="0">
                <a:solidFill>
                  <a:srgbClr val="C00000"/>
                </a:solidFill>
              </a:rPr>
              <a:t> T</a:t>
            </a:r>
            <a:r>
              <a:rPr lang="en-US" sz="3600" b="1" dirty="0">
                <a:solidFill>
                  <a:schemeClr val="tx1"/>
                </a:solidFill>
              </a:rPr>
              <a:t>ransformer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599F8-9111-EAC1-EC19-A1DFD767D7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EF55A19-4280-86F0-ABC8-77D648B0E001}"/>
              </a:ext>
            </a:extLst>
          </p:cNvPr>
          <p:cNvSpPr txBox="1">
            <a:spLocks/>
          </p:cNvSpPr>
          <p:nvPr/>
        </p:nvSpPr>
        <p:spPr>
          <a:xfrm>
            <a:off x="0" y="6534055"/>
            <a:ext cx="5013552" cy="324384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274320" tIns="64008" rIns="274320" bIns="64008" rtlCol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Ben Lengerich © University of Wisconsin-Madison 2025</a:t>
            </a:r>
          </a:p>
        </p:txBody>
      </p:sp>
    </p:spTree>
    <p:extLst>
      <p:ext uri="{BB962C8B-B14F-4D97-AF65-F5344CB8AC3E}">
        <p14:creationId xmlns:p14="http://schemas.microsoft.com/office/powerpoint/2010/main" val="1077046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4E939A-41B8-338E-4A63-F7BD344B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3125519"/>
            <a:ext cx="9560560" cy="603563"/>
          </a:xfrm>
        </p:spPr>
        <p:txBody>
          <a:bodyPr/>
          <a:lstStyle/>
          <a:p>
            <a:r>
              <a:rPr lang="en-US" dirty="0"/>
              <a:t>From Transformer to GPT</a:t>
            </a:r>
          </a:p>
        </p:txBody>
      </p:sp>
    </p:spTree>
    <p:extLst>
      <p:ext uri="{BB962C8B-B14F-4D97-AF65-F5344CB8AC3E}">
        <p14:creationId xmlns:p14="http://schemas.microsoft.com/office/powerpoint/2010/main" val="1143862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the ”Transformer”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pic>
        <p:nvPicPr>
          <p:cNvPr id="8" name="Picture 7" descr="A close-up of a group of business cards&#10;&#10;Description automatically generated">
            <a:extLst>
              <a:ext uri="{FF2B5EF4-FFF2-40B4-BE49-F238E27FC236}">
                <a16:creationId xmlns:a16="http://schemas.microsoft.com/office/drawing/2014/main" id="{AD4F25DF-6083-0D4C-ADDC-F54BDF5BF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29" y="1417359"/>
            <a:ext cx="6152244" cy="37621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A8D6708-7660-534D-900D-A163B989E4B8}"/>
              </a:ext>
            </a:extLst>
          </p:cNvPr>
          <p:cNvGrpSpPr/>
          <p:nvPr/>
        </p:nvGrpSpPr>
        <p:grpSpPr>
          <a:xfrm>
            <a:off x="1404358" y="5248543"/>
            <a:ext cx="5871701" cy="1087352"/>
            <a:chOff x="6096000" y="209664"/>
            <a:chExt cx="5871701" cy="1087352"/>
          </a:xfrm>
        </p:grpSpPr>
        <p:pic>
          <p:nvPicPr>
            <p:cNvPr id="5" name="Picture 4" descr="A close-up of a text&#10;&#10;Description automatically generated">
              <a:extLst>
                <a:ext uri="{FF2B5EF4-FFF2-40B4-BE49-F238E27FC236}">
                  <a16:creationId xmlns:a16="http://schemas.microsoft.com/office/drawing/2014/main" id="{AA8B71B7-45BE-D044-A3D9-91288128C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209664"/>
              <a:ext cx="5871701" cy="108735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04EBAD-5ED2-6F4F-B950-3396B13248F8}"/>
                </a:ext>
              </a:extLst>
            </p:cNvPr>
            <p:cNvSpPr/>
            <p:nvPr/>
          </p:nvSpPr>
          <p:spPr>
            <a:xfrm>
              <a:off x="7281017" y="1054389"/>
              <a:ext cx="1076770" cy="18516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0FBD4747-E01B-8749-8546-F95455E54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471" y="429691"/>
            <a:ext cx="4205927" cy="633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29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the ”Transformer”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pic>
        <p:nvPicPr>
          <p:cNvPr id="3" name="Picture 2" descr="A diagram of a process&#10;&#10;Description automatically generated">
            <a:extLst>
              <a:ext uri="{FF2B5EF4-FFF2-40B4-BE49-F238E27FC236}">
                <a16:creationId xmlns:a16="http://schemas.microsoft.com/office/drawing/2014/main" id="{0FBD4747-E01B-8749-8546-F95455E5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792" y="429691"/>
            <a:ext cx="4205927" cy="6336930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5AF2BBDB-AFB8-DA4C-B61B-509CE3CE6B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1331" y="1524000"/>
            <a:ext cx="7025833" cy="5006692"/>
          </a:xfrm>
        </p:spPr>
        <p:txBody>
          <a:bodyPr/>
          <a:lstStyle/>
          <a:p>
            <a:r>
              <a:rPr lang="en-US" b="1" dirty="0"/>
              <a:t>Original Transformer </a:t>
            </a:r>
            <a:r>
              <a:rPr lang="en-US" dirty="0"/>
              <a:t>(Vaswani et al., 2017):</a:t>
            </a:r>
          </a:p>
          <a:p>
            <a:pPr lvl="1"/>
            <a:r>
              <a:rPr lang="en-US" dirty="0"/>
              <a:t>Encoder-decoder architecture for sequence-to-sequence tasks</a:t>
            </a:r>
          </a:p>
          <a:p>
            <a:pPr lvl="1"/>
            <a:r>
              <a:rPr lang="en-US" dirty="0"/>
              <a:t>Parallelizable self-attention instead of recurrence</a:t>
            </a:r>
          </a:p>
          <a:p>
            <a:pPr lvl="1"/>
            <a:r>
              <a:rPr lang="en-US" dirty="0"/>
              <a:t>Positional encodings enable order sensitivity</a:t>
            </a:r>
          </a:p>
          <a:p>
            <a:r>
              <a:rPr lang="en-US" b="1" dirty="0"/>
              <a:t>Encoder</a:t>
            </a:r>
            <a:r>
              <a:rPr lang="en-US" dirty="0"/>
              <a:t>: Processes input sequence</a:t>
            </a:r>
          </a:p>
          <a:p>
            <a:r>
              <a:rPr lang="en-US" b="1" dirty="0"/>
              <a:t>Decoder</a:t>
            </a:r>
            <a:r>
              <a:rPr lang="en-US" dirty="0"/>
              <a:t>: Generates output sequence using masked attention + encoder output</a:t>
            </a:r>
          </a:p>
          <a:p>
            <a:r>
              <a:rPr lang="en-US" dirty="0"/>
              <a:t>Inspired by machine translation (observe full input sequence, predict full output sequence)</a:t>
            </a:r>
          </a:p>
        </p:txBody>
      </p:sp>
    </p:spTree>
    <p:extLst>
      <p:ext uri="{BB962C8B-B14F-4D97-AF65-F5344CB8AC3E}">
        <p14:creationId xmlns:p14="http://schemas.microsoft.com/office/powerpoint/2010/main" val="346141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350"/>
            <a:ext cx="11308080" cy="990849"/>
          </a:xfrm>
        </p:spPr>
        <p:txBody>
          <a:bodyPr/>
          <a:lstStyle/>
          <a:p>
            <a:r>
              <a:rPr lang="en-US" dirty="0"/>
              <a:t>From Sequence Transduction to Sequence Modeling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5AF2BBDB-AFB8-DA4C-B61B-509CE3CE6BF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24000" y="1524001"/>
                <a:ext cx="9599270" cy="4249177"/>
              </a:xfrm>
            </p:spPr>
            <p:txBody>
              <a:bodyPr/>
              <a:lstStyle/>
              <a:p>
                <a:r>
                  <a:rPr lang="en-US" b="1" dirty="0"/>
                  <a:t>Original Transformer </a:t>
                </a:r>
                <a:r>
                  <a:rPr lang="en-US" dirty="0"/>
                  <a:t>(Vaswani et al., 2017):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b="1" dirty="0"/>
                  <a:t>Conditional</a:t>
                </a:r>
                <a:r>
                  <a:rPr lang="en-US" dirty="0"/>
                  <a:t> sequence model for tasks like translation (input → output)</a:t>
                </a:r>
              </a:p>
              <a:p>
                <a:r>
                  <a:rPr lang="en-US" b="1" dirty="0"/>
                  <a:t>Generative Pretrained Transformer (GPT) </a:t>
                </a:r>
                <a:r>
                  <a:rPr lang="en-US" dirty="0"/>
                  <a:t>Models: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b="1" dirty="0"/>
                  <a:t>Unconditional</a:t>
                </a:r>
                <a:r>
                  <a:rPr lang="en-US" dirty="0"/>
                  <a:t> generative model over raw text</a:t>
                </a:r>
              </a:p>
              <a:p>
                <a:r>
                  <a:rPr lang="en-US" dirty="0"/>
                  <a:t>Architectural consequence: </a:t>
                </a:r>
                <a:r>
                  <a:rPr lang="en-US" b="1" dirty="0"/>
                  <a:t>no encoder</a:t>
                </a:r>
                <a:r>
                  <a:rPr lang="en-US" dirty="0"/>
                  <a:t>, only a decoder with causal structure</a:t>
                </a: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5AF2BBDB-AFB8-DA4C-B61B-509CE3CE6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24000" y="1524001"/>
                <a:ext cx="9599270" cy="4249177"/>
              </a:xfrm>
              <a:blipFill>
                <a:blip r:embed="rId3"/>
                <a:stretch>
                  <a:fillRect l="-1982" t="-26567" b="-18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2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9248"/>
            <a:ext cx="11308080" cy="519951"/>
          </a:xfrm>
        </p:spPr>
        <p:txBody>
          <a:bodyPr/>
          <a:lstStyle/>
          <a:p>
            <a:r>
              <a:rPr lang="en-US" dirty="0"/>
              <a:t>GPT = Probabilistic Model + Transformer Decoder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5AF2BBDB-AFB8-DA4C-B61B-509CE3CE6BF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24000" y="1524001"/>
                <a:ext cx="9599270" cy="4347472"/>
              </a:xfrm>
            </p:spPr>
            <p:txBody>
              <a:bodyPr/>
              <a:lstStyle/>
              <a:p>
                <a:r>
                  <a:rPr lang="en-US" b="1" dirty="0"/>
                  <a:t>Directed PGM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sz="6000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,&lt;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600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b="1" dirty="0"/>
                  <a:t>Probabilistic objective: </a:t>
                </a:r>
                <a:r>
                  <a:rPr lang="en-US" dirty="0"/>
                  <a:t>Max log-likelihood of observed seqs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func>
                                    <m:func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sepChr m:val="∣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,&lt;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5AF2BBDB-AFB8-DA4C-B61B-509CE3CE6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24000" y="1524001"/>
                <a:ext cx="9599270" cy="4347472"/>
              </a:xfrm>
              <a:blipFill>
                <a:blip r:embed="rId3"/>
                <a:stretch>
                  <a:fillRect l="-1982" t="-2332" r="-132" b="-44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2300238-229B-0049-8AA1-3D38F288FD63}"/>
              </a:ext>
            </a:extLst>
          </p:cNvPr>
          <p:cNvSpPr txBox="1"/>
          <p:nvPr/>
        </p:nvSpPr>
        <p:spPr>
          <a:xfrm>
            <a:off x="1960880" y="701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EF4C9-3F4C-BB4D-B768-A954FAD7B8AF}"/>
              </a:ext>
            </a:extLst>
          </p:cNvPr>
          <p:cNvSpPr txBox="1"/>
          <p:nvPr/>
        </p:nvSpPr>
        <p:spPr>
          <a:xfrm>
            <a:off x="6096000" y="5835586"/>
            <a:ext cx="5306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[Radford et al., 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4"/>
              </a:rPr>
              <a:t>Improving Language Understanding by Generative Pre-Training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A699C45-14B3-1C4D-90EC-CA38F2206E59}"/>
                  </a:ext>
                </a:extLst>
              </p:cNvPr>
              <p:cNvSpPr/>
              <p:nvPr/>
            </p:nvSpPr>
            <p:spPr>
              <a:xfrm>
                <a:off x="2381543" y="2041837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A699C45-14B3-1C4D-90EC-CA38F2206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543" y="2041837"/>
                <a:ext cx="1016001" cy="88653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745F75-F23A-6742-AD88-5C2C8A6C1495}"/>
                  </a:ext>
                </a:extLst>
              </p:cNvPr>
              <p:cNvSpPr/>
              <p:nvPr/>
            </p:nvSpPr>
            <p:spPr>
              <a:xfrm>
                <a:off x="4151077" y="2041837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745F75-F23A-6742-AD88-5C2C8A6C14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77" y="2041837"/>
                <a:ext cx="1016001" cy="8865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27CF227D-594F-924C-A06D-405CB0237813}"/>
              </a:ext>
            </a:extLst>
          </p:cNvPr>
          <p:cNvSpPr/>
          <p:nvPr/>
        </p:nvSpPr>
        <p:spPr>
          <a:xfrm>
            <a:off x="5725876" y="2041837"/>
            <a:ext cx="1016001" cy="88653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6D523FF-999D-0342-8493-0E2235BB7E3A}"/>
                  </a:ext>
                </a:extLst>
              </p:cNvPr>
              <p:cNvSpPr/>
              <p:nvPr/>
            </p:nvSpPr>
            <p:spPr>
              <a:xfrm>
                <a:off x="7300675" y="2042591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6D523FF-999D-0342-8493-0E2235BB7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675" y="2042591"/>
                <a:ext cx="1016001" cy="8865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5C47CCA-39F2-1C43-8379-CA29D136BE91}"/>
                  </a:ext>
                </a:extLst>
              </p:cNvPr>
              <p:cNvSpPr/>
              <p:nvPr/>
            </p:nvSpPr>
            <p:spPr>
              <a:xfrm>
                <a:off x="8934742" y="2041837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5C47CCA-39F2-1C43-8379-CA29D136B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742" y="2041837"/>
                <a:ext cx="1016001" cy="88653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ED01CD-2925-C846-A09D-89E094F3287A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3397544" y="2485104"/>
            <a:ext cx="753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344A11-B872-694A-A8D1-2C461068D02C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5167078" y="2485104"/>
            <a:ext cx="558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E36FAE-F155-1843-BDD3-52E2E21A2ED4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6741877" y="2485104"/>
            <a:ext cx="558798" cy="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E0BEEA-030E-764B-9F50-3C0EF24886C4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8316676" y="2485104"/>
            <a:ext cx="618066" cy="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3">
            <a:extLst>
              <a:ext uri="{FF2B5EF4-FFF2-40B4-BE49-F238E27FC236}">
                <a16:creationId xmlns:a16="http://schemas.microsoft.com/office/drawing/2014/main" id="{A077E8B8-91C9-AA44-9975-D2684DD79008}"/>
              </a:ext>
            </a:extLst>
          </p:cNvPr>
          <p:cNvSpPr/>
          <p:nvPr/>
        </p:nvSpPr>
        <p:spPr>
          <a:xfrm>
            <a:off x="3392129" y="1710803"/>
            <a:ext cx="2320413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2EF8549-6BBB-1240-B9BC-217BF056016D}"/>
              </a:ext>
            </a:extLst>
          </p:cNvPr>
          <p:cNvSpPr/>
          <p:nvPr/>
        </p:nvSpPr>
        <p:spPr>
          <a:xfrm>
            <a:off x="5195722" y="1706539"/>
            <a:ext cx="2104953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64190F93-C861-EF42-BB6B-7E9C93EAE673}"/>
              </a:ext>
            </a:extLst>
          </p:cNvPr>
          <p:cNvSpPr/>
          <p:nvPr/>
        </p:nvSpPr>
        <p:spPr>
          <a:xfrm>
            <a:off x="6744657" y="1718177"/>
            <a:ext cx="2190085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7CB59A2D-6147-F744-9862-95880D6225F5}"/>
              </a:ext>
            </a:extLst>
          </p:cNvPr>
          <p:cNvSpPr/>
          <p:nvPr/>
        </p:nvSpPr>
        <p:spPr>
          <a:xfrm rot="10800000">
            <a:off x="3388804" y="2481993"/>
            <a:ext cx="3911870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14091BDA-8B6D-8042-A67B-B955BA381784}"/>
              </a:ext>
            </a:extLst>
          </p:cNvPr>
          <p:cNvSpPr/>
          <p:nvPr/>
        </p:nvSpPr>
        <p:spPr>
          <a:xfrm rot="10800000">
            <a:off x="5167078" y="2473465"/>
            <a:ext cx="3767664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4E3DA2C0-9457-FF4D-89E8-81164CE97354}"/>
              </a:ext>
            </a:extLst>
          </p:cNvPr>
          <p:cNvSpPr/>
          <p:nvPr/>
        </p:nvSpPr>
        <p:spPr>
          <a:xfrm rot="10800000">
            <a:off x="3406283" y="2493631"/>
            <a:ext cx="5528457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0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9248"/>
            <a:ext cx="11308080" cy="519951"/>
          </a:xfrm>
        </p:spPr>
        <p:txBody>
          <a:bodyPr/>
          <a:lstStyle/>
          <a:p>
            <a:r>
              <a:rPr lang="en-US" dirty="0"/>
              <a:t>GPT = Probabilistic Model + Transformer Decoder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5AF2BBDB-AFB8-DA4C-B61B-509CE3CE6BF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524000" y="1524001"/>
                <a:ext cx="9599270" cy="4895251"/>
              </a:xfrm>
            </p:spPr>
            <p:txBody>
              <a:bodyPr/>
              <a:lstStyle/>
              <a:p>
                <a:r>
                  <a:rPr lang="en-US" b="1" dirty="0"/>
                  <a:t>Directed PGM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sz="6000" b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nary>
                            <m:naryPr>
                              <m:chr m:val="∏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nary>
                                <m:naryPr>
                                  <m:chr m:val="∏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,&lt;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600" b="0" i="1" dirty="0">
                  <a:latin typeface="Cambria Math" panose="02040503050406030204" pitchFamily="18" charset="0"/>
                </a:endParaRPr>
              </a:p>
              <a:p>
                <a:r>
                  <a:rPr lang="en-US" b="1" dirty="0"/>
                  <a:t>Model structure:</a:t>
                </a:r>
              </a:p>
              <a:p>
                <a:pPr lvl="1"/>
                <a:r>
                  <a:rPr lang="en-US" dirty="0"/>
                  <a:t>Input: token embeddings + positional encodings</a:t>
                </a:r>
              </a:p>
              <a:p>
                <a:pPr lvl="1"/>
                <a:r>
                  <a:rPr lang="en-US" dirty="0"/>
                  <a:t>Masked multi-head attention: Enforces “causality”</a:t>
                </a:r>
              </a:p>
              <a:p>
                <a:pPr lvl="1"/>
                <a:r>
                  <a:rPr lang="en-US" dirty="0"/>
                  <a:t>Decoder stack: Learns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</a:t>
                </a:r>
                <a:r>
                  <a:rPr lang="en-US" dirty="0" err="1"/>
                  <a:t>softmax</a:t>
                </a:r>
                <a:r>
                  <a:rPr lang="en-US" dirty="0"/>
                  <a:t> over vocabulary</a:t>
                </a:r>
              </a:p>
            </p:txBody>
          </p:sp>
        </mc:Choice>
        <mc:Fallback xmlns="">
          <p:sp>
            <p:nvSpPr>
              <p:cNvPr id="11" name="Content Placeholder 4">
                <a:extLst>
                  <a:ext uri="{FF2B5EF4-FFF2-40B4-BE49-F238E27FC236}">
                    <a16:creationId xmlns:a16="http://schemas.microsoft.com/office/drawing/2014/main" id="{5AF2BBDB-AFB8-DA4C-B61B-509CE3CE6B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524000" y="1524001"/>
                <a:ext cx="9599270" cy="4895251"/>
              </a:xfrm>
              <a:blipFill>
                <a:blip r:embed="rId3"/>
                <a:stretch>
                  <a:fillRect l="-1982" t="-2073" b="-1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2300238-229B-0049-8AA1-3D38F288FD63}"/>
              </a:ext>
            </a:extLst>
          </p:cNvPr>
          <p:cNvSpPr txBox="1"/>
          <p:nvPr/>
        </p:nvSpPr>
        <p:spPr>
          <a:xfrm>
            <a:off x="1960880" y="701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EF4C9-3F4C-BB4D-B768-A954FAD7B8AF}"/>
              </a:ext>
            </a:extLst>
          </p:cNvPr>
          <p:cNvSpPr txBox="1"/>
          <p:nvPr/>
        </p:nvSpPr>
        <p:spPr>
          <a:xfrm>
            <a:off x="6111240" y="6158752"/>
            <a:ext cx="5306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[Radford et al., 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4"/>
              </a:rPr>
              <a:t>Improving Language Understanding by Generative Pre-Training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A699C45-14B3-1C4D-90EC-CA38F2206E59}"/>
                  </a:ext>
                </a:extLst>
              </p:cNvPr>
              <p:cNvSpPr/>
              <p:nvPr/>
            </p:nvSpPr>
            <p:spPr>
              <a:xfrm>
                <a:off x="2381543" y="2041837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A699C45-14B3-1C4D-90EC-CA38F2206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543" y="2041837"/>
                <a:ext cx="1016001" cy="88653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745F75-F23A-6742-AD88-5C2C8A6C1495}"/>
                  </a:ext>
                </a:extLst>
              </p:cNvPr>
              <p:cNvSpPr/>
              <p:nvPr/>
            </p:nvSpPr>
            <p:spPr>
              <a:xfrm>
                <a:off x="4151077" y="2041837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1745F75-F23A-6742-AD88-5C2C8A6C14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077" y="2041837"/>
                <a:ext cx="1016001" cy="8865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27CF227D-594F-924C-A06D-405CB0237813}"/>
              </a:ext>
            </a:extLst>
          </p:cNvPr>
          <p:cNvSpPr/>
          <p:nvPr/>
        </p:nvSpPr>
        <p:spPr>
          <a:xfrm>
            <a:off x="5725876" y="2041837"/>
            <a:ext cx="1016001" cy="88653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6D523FF-999D-0342-8493-0E2235BB7E3A}"/>
                  </a:ext>
                </a:extLst>
              </p:cNvPr>
              <p:cNvSpPr/>
              <p:nvPr/>
            </p:nvSpPr>
            <p:spPr>
              <a:xfrm>
                <a:off x="7300675" y="2042591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6D523FF-999D-0342-8493-0E2235BB7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675" y="2042591"/>
                <a:ext cx="1016001" cy="8865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5C47CCA-39F2-1C43-8379-CA29D136BE91}"/>
                  </a:ext>
                </a:extLst>
              </p:cNvPr>
              <p:cNvSpPr/>
              <p:nvPr/>
            </p:nvSpPr>
            <p:spPr>
              <a:xfrm>
                <a:off x="8934742" y="2041837"/>
                <a:ext cx="1016001" cy="88653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5C47CCA-39F2-1C43-8379-CA29D136BE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742" y="2041837"/>
                <a:ext cx="1016001" cy="88653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ED01CD-2925-C846-A09D-89E094F3287A}"/>
              </a:ext>
            </a:extLst>
          </p:cNvPr>
          <p:cNvCxnSpPr>
            <a:stCxn id="9" idx="6"/>
            <a:endCxn id="10" idx="2"/>
          </p:cNvCxnSpPr>
          <p:nvPr/>
        </p:nvCxnSpPr>
        <p:spPr>
          <a:xfrm>
            <a:off x="3397544" y="2485104"/>
            <a:ext cx="753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344A11-B872-694A-A8D1-2C461068D02C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>
            <a:off x="5167078" y="2485104"/>
            <a:ext cx="558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E36FAE-F155-1843-BDD3-52E2E21A2ED4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6741877" y="2485104"/>
            <a:ext cx="558798" cy="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E0BEEA-030E-764B-9F50-3C0EF24886C4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 flipV="1">
            <a:off x="8316676" y="2485104"/>
            <a:ext cx="618066" cy="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3">
            <a:extLst>
              <a:ext uri="{FF2B5EF4-FFF2-40B4-BE49-F238E27FC236}">
                <a16:creationId xmlns:a16="http://schemas.microsoft.com/office/drawing/2014/main" id="{A077E8B8-91C9-AA44-9975-D2684DD79008}"/>
              </a:ext>
            </a:extLst>
          </p:cNvPr>
          <p:cNvSpPr/>
          <p:nvPr/>
        </p:nvSpPr>
        <p:spPr>
          <a:xfrm>
            <a:off x="3392129" y="1710803"/>
            <a:ext cx="2320413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2EF8549-6BBB-1240-B9BC-217BF056016D}"/>
              </a:ext>
            </a:extLst>
          </p:cNvPr>
          <p:cNvSpPr/>
          <p:nvPr/>
        </p:nvSpPr>
        <p:spPr>
          <a:xfrm>
            <a:off x="5195722" y="1706539"/>
            <a:ext cx="2104953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64190F93-C861-EF42-BB6B-7E9C93EAE673}"/>
              </a:ext>
            </a:extLst>
          </p:cNvPr>
          <p:cNvSpPr/>
          <p:nvPr/>
        </p:nvSpPr>
        <p:spPr>
          <a:xfrm>
            <a:off x="6744657" y="1718177"/>
            <a:ext cx="2190085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7CB59A2D-6147-F744-9862-95880D6225F5}"/>
              </a:ext>
            </a:extLst>
          </p:cNvPr>
          <p:cNvSpPr/>
          <p:nvPr/>
        </p:nvSpPr>
        <p:spPr>
          <a:xfrm rot="10800000">
            <a:off x="3388804" y="2481993"/>
            <a:ext cx="3911870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14091BDA-8B6D-8042-A67B-B955BA381784}"/>
              </a:ext>
            </a:extLst>
          </p:cNvPr>
          <p:cNvSpPr/>
          <p:nvPr/>
        </p:nvSpPr>
        <p:spPr>
          <a:xfrm rot="10800000">
            <a:off x="5167078" y="2473465"/>
            <a:ext cx="3767664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4E3DA2C0-9457-FF4D-89E8-81164CE97354}"/>
              </a:ext>
            </a:extLst>
          </p:cNvPr>
          <p:cNvSpPr/>
          <p:nvPr/>
        </p:nvSpPr>
        <p:spPr>
          <a:xfrm rot="10800000">
            <a:off x="3406283" y="2493631"/>
            <a:ext cx="5528457" cy="766926"/>
          </a:xfrm>
          <a:custGeom>
            <a:avLst/>
            <a:gdLst>
              <a:gd name="connsiteX0" fmla="*/ 0 w 2320413"/>
              <a:gd name="connsiteY0" fmla="*/ 766926 h 766926"/>
              <a:gd name="connsiteX1" fmla="*/ 1199536 w 2320413"/>
              <a:gd name="connsiteY1" fmla="*/ 10 h 766926"/>
              <a:gd name="connsiteX2" fmla="*/ 2320413 w 2320413"/>
              <a:gd name="connsiteY2" fmla="*/ 747262 h 766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20413" h="766926">
                <a:moveTo>
                  <a:pt x="0" y="766926"/>
                </a:moveTo>
                <a:cubicBezTo>
                  <a:pt x="406400" y="385106"/>
                  <a:pt x="812801" y="3287"/>
                  <a:pt x="1199536" y="10"/>
                </a:cubicBezTo>
                <a:cubicBezTo>
                  <a:pt x="1586271" y="-3267"/>
                  <a:pt x="2107381" y="796423"/>
                  <a:pt x="2320413" y="74726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0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4E939A-41B8-338E-4A63-F7BD344B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3125519"/>
            <a:ext cx="9560560" cy="603563"/>
          </a:xfrm>
        </p:spPr>
        <p:txBody>
          <a:bodyPr/>
          <a:lstStyle/>
          <a:p>
            <a:r>
              <a:rPr lang="en-US" dirty="0"/>
              <a:t>Let’s write a GPT</a:t>
            </a:r>
          </a:p>
        </p:txBody>
      </p:sp>
    </p:spTree>
    <p:extLst>
      <p:ext uri="{BB962C8B-B14F-4D97-AF65-F5344CB8AC3E}">
        <p14:creationId xmlns:p14="http://schemas.microsoft.com/office/powerpoint/2010/main" val="2959620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write a GPT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A467D6-1ED4-2045-ABB1-2549AC588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440" y="1524000"/>
            <a:ext cx="9829800" cy="809196"/>
          </a:xfrm>
        </p:spPr>
        <p:txBody>
          <a:bodyPr/>
          <a:lstStyle/>
          <a:p>
            <a:r>
              <a:rPr lang="en-US" dirty="0">
                <a:hlinkClick r:id="rId3"/>
              </a:rPr>
              <a:t>EasyGPT repo</a:t>
            </a:r>
            <a:endParaRPr lang="en-US" dirty="0"/>
          </a:p>
          <a:p>
            <a:pPr lvl="1"/>
            <a:r>
              <a:rPr lang="en-US" dirty="0"/>
              <a:t>Adapted from Andrej </a:t>
            </a:r>
            <a:r>
              <a:rPr lang="en-US" dirty="0" err="1"/>
              <a:t>Karpathy’s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nanoGPT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8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E4E939A-41B8-338E-4A63-F7BD344B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3125519"/>
            <a:ext cx="9560560" cy="603563"/>
          </a:xfrm>
        </p:spPr>
        <p:txBody>
          <a:bodyPr/>
          <a:lstStyle/>
          <a:p>
            <a:r>
              <a:rPr lang="en-US" dirty="0"/>
              <a:t>From our “GPT” to GPT-4</a:t>
            </a:r>
          </a:p>
        </p:txBody>
      </p:sp>
    </p:spTree>
    <p:extLst>
      <p:ext uri="{BB962C8B-B14F-4D97-AF65-F5344CB8AC3E}">
        <p14:creationId xmlns:p14="http://schemas.microsoft.com/office/powerpoint/2010/main" val="2369082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our “GPT-0” to GPT-1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A194BA3-08D4-594D-8CBD-927783A5B7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81100" y="1406207"/>
            <a:ext cx="9829800" cy="5185009"/>
          </a:xfrm>
        </p:spPr>
        <p:txBody>
          <a:bodyPr/>
          <a:lstStyle/>
          <a:p>
            <a:r>
              <a:rPr lang="en-US" sz="2000" dirty="0"/>
              <a:t>Architecture:</a:t>
            </a:r>
          </a:p>
          <a:p>
            <a:pPr lvl="1"/>
            <a:r>
              <a:rPr lang="en-US" sz="1800" dirty="0"/>
              <a:t>Tokenizer: Characters </a:t>
            </a:r>
            <a:r>
              <a:rPr lang="en-US" sz="1800" dirty="0">
                <a:sym typeface="Wingdings" pitchFamily="2" charset="2"/>
              </a:rPr>
              <a:t></a:t>
            </a:r>
            <a:r>
              <a:rPr lang="en-US" sz="1800" dirty="0"/>
              <a:t> “Byte-Pair Encoder” tokenizer</a:t>
            </a:r>
          </a:p>
          <a:p>
            <a:pPr lvl="1"/>
            <a:r>
              <a:rPr lang="en-US" sz="1800" dirty="0">
                <a:sym typeface="Wingdings" pitchFamily="2" charset="2"/>
              </a:rPr>
              <a:t>Activation: </a:t>
            </a:r>
            <a:r>
              <a:rPr lang="en-US" sz="1800" dirty="0" err="1">
                <a:sym typeface="Wingdings" pitchFamily="2" charset="2"/>
              </a:rPr>
              <a:t>ReLU</a:t>
            </a:r>
            <a:r>
              <a:rPr lang="en-US" sz="1800" dirty="0">
                <a:sym typeface="Wingdings" pitchFamily="2" charset="2"/>
              </a:rPr>
              <a:t>  GELU</a:t>
            </a:r>
          </a:p>
          <a:p>
            <a:pPr lvl="1"/>
            <a:r>
              <a:rPr lang="en-US" sz="1800" dirty="0">
                <a:sym typeface="Wingdings" pitchFamily="2" charset="2"/>
              </a:rPr>
              <a:t>Weight sharing for embedding / output</a:t>
            </a:r>
            <a:endParaRPr lang="en-US" sz="1800" dirty="0"/>
          </a:p>
          <a:p>
            <a:pPr lvl="1"/>
            <a:r>
              <a:rPr lang="en-US" sz="1800" dirty="0"/>
              <a:t>Scale (117M params):</a:t>
            </a:r>
          </a:p>
          <a:p>
            <a:pPr lvl="2"/>
            <a:r>
              <a:rPr lang="en-US" sz="1700" dirty="0"/>
              <a:t>Layers: 4 </a:t>
            </a:r>
            <a:r>
              <a:rPr lang="en-US" sz="1700" dirty="0">
                <a:sym typeface="Wingdings" pitchFamily="2" charset="2"/>
              </a:rPr>
              <a:t></a:t>
            </a:r>
            <a:r>
              <a:rPr lang="en-US" sz="1700" dirty="0"/>
              <a:t> 12</a:t>
            </a:r>
          </a:p>
          <a:p>
            <a:pPr lvl="2"/>
            <a:r>
              <a:rPr lang="en-US" sz="1700" dirty="0"/>
              <a:t>Attention Heads: 4 </a:t>
            </a:r>
            <a:r>
              <a:rPr lang="en-US" sz="1700" dirty="0">
                <a:sym typeface="Wingdings" pitchFamily="2" charset="2"/>
              </a:rPr>
              <a:t></a:t>
            </a:r>
            <a:r>
              <a:rPr lang="en-US" sz="1700" dirty="0"/>
              <a:t> 12</a:t>
            </a:r>
          </a:p>
          <a:p>
            <a:pPr lvl="2"/>
            <a:r>
              <a:rPr lang="en-US" sz="1700" dirty="0"/>
              <a:t>Block size (max context): 32 </a:t>
            </a:r>
            <a:r>
              <a:rPr lang="en-US" sz="1700" dirty="0">
                <a:sym typeface="Wingdings" pitchFamily="2" charset="2"/>
              </a:rPr>
              <a:t> 512</a:t>
            </a:r>
            <a:endParaRPr lang="en-US" sz="1700" dirty="0"/>
          </a:p>
          <a:p>
            <a:pPr lvl="2"/>
            <a:r>
              <a:rPr lang="en-US" sz="1700" dirty="0"/>
              <a:t>Vocab: 65 </a:t>
            </a:r>
            <a:r>
              <a:rPr lang="en-US" sz="1700" dirty="0">
                <a:sym typeface="Wingdings" pitchFamily="2" charset="2"/>
              </a:rPr>
              <a:t> 40000 BPE tokens</a:t>
            </a:r>
          </a:p>
          <a:p>
            <a:pPr lvl="2"/>
            <a:r>
              <a:rPr lang="en-US" sz="1700" dirty="0">
                <a:sym typeface="Wingdings" pitchFamily="2" charset="2"/>
              </a:rPr>
              <a:t>Embedding dim: 64  768</a:t>
            </a:r>
          </a:p>
          <a:p>
            <a:r>
              <a:rPr lang="en-US" sz="2000" dirty="0">
                <a:sym typeface="Wingdings" pitchFamily="2" charset="2"/>
              </a:rPr>
              <a:t>Training:</a:t>
            </a:r>
          </a:p>
          <a:p>
            <a:pPr lvl="1"/>
            <a:r>
              <a:rPr lang="en-US" sz="1800" dirty="0">
                <a:sym typeface="Wingdings" pitchFamily="2" charset="2"/>
              </a:rPr>
              <a:t>Dataset: </a:t>
            </a:r>
            <a:r>
              <a:rPr lang="en-US" sz="1800" dirty="0" err="1">
                <a:sym typeface="Wingdings" pitchFamily="2" charset="2"/>
              </a:rPr>
              <a:t>TinyShakespeare</a:t>
            </a:r>
            <a:r>
              <a:rPr lang="en-US" sz="1800" dirty="0">
                <a:sym typeface="Wingdings" pitchFamily="2" charset="2"/>
              </a:rPr>
              <a:t> (1MB)  </a:t>
            </a:r>
            <a:r>
              <a:rPr lang="en-US" sz="1800" dirty="0" err="1">
                <a:sym typeface="Wingdings" pitchFamily="2" charset="2"/>
              </a:rPr>
              <a:t>BookCorpus</a:t>
            </a:r>
            <a:r>
              <a:rPr lang="en-US" sz="1800" dirty="0">
                <a:sym typeface="Wingdings" pitchFamily="2" charset="2"/>
              </a:rPr>
              <a:t> (5GB)</a:t>
            </a:r>
          </a:p>
          <a:p>
            <a:pPr lvl="1"/>
            <a:r>
              <a:rPr lang="en-US" sz="1800" dirty="0">
                <a:sym typeface="Wingdings" pitchFamily="2" charset="2"/>
              </a:rPr>
              <a:t>Initialization &amp; normalization: Default  Carefully tuned</a:t>
            </a:r>
          </a:p>
          <a:p>
            <a:pPr lvl="1"/>
            <a:r>
              <a:rPr lang="en-US" sz="1800" dirty="0">
                <a:sym typeface="Wingdings" pitchFamily="2" charset="2"/>
              </a:rPr>
              <a:t>Optimizer: Vanilla Adam  Adam + learning rate warmup + weight decay</a:t>
            </a:r>
          </a:p>
          <a:p>
            <a:r>
              <a:rPr lang="en-US" sz="2000" dirty="0">
                <a:sym typeface="Wingdings" pitchFamily="2" charset="2"/>
              </a:rPr>
              <a:t>Inference:</a:t>
            </a:r>
          </a:p>
          <a:p>
            <a:pPr lvl="1"/>
            <a:r>
              <a:rPr lang="en-US" sz="1800" dirty="0">
                <a:sym typeface="Wingdings" pitchFamily="2" charset="2"/>
              </a:rPr>
              <a:t>Sampling: Greedy  Top-k</a:t>
            </a:r>
          </a:p>
        </p:txBody>
      </p:sp>
    </p:spTree>
    <p:extLst>
      <p:ext uri="{BB962C8B-B14F-4D97-AF65-F5344CB8AC3E}">
        <p14:creationId xmlns:p14="http://schemas.microsoft.com/office/powerpoint/2010/main" val="48349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GPT-1 to GPT-2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A194BA3-08D4-594D-8CBD-927783A5B7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440" y="1524000"/>
            <a:ext cx="9829800" cy="3384003"/>
          </a:xfrm>
        </p:spPr>
        <p:txBody>
          <a:bodyPr/>
          <a:lstStyle/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Scale: Variety of options, with biggest (1.5B params):</a:t>
            </a:r>
          </a:p>
          <a:p>
            <a:pPr lvl="2"/>
            <a:r>
              <a:rPr lang="en-US" dirty="0"/>
              <a:t>Layers: 12 </a:t>
            </a:r>
            <a:r>
              <a:rPr lang="en-US" dirty="0">
                <a:sym typeface="Wingdings" pitchFamily="2" charset="2"/>
              </a:rPr>
              <a:t> 48</a:t>
            </a:r>
          </a:p>
          <a:p>
            <a:pPr lvl="2"/>
            <a:r>
              <a:rPr lang="en-US" dirty="0">
                <a:sym typeface="Wingdings" pitchFamily="2" charset="2"/>
              </a:rPr>
              <a:t>Attention Heads: 12  25</a:t>
            </a:r>
          </a:p>
          <a:p>
            <a:pPr lvl="2"/>
            <a:r>
              <a:rPr lang="en-US" dirty="0">
                <a:sym typeface="Wingdings" pitchFamily="2" charset="2"/>
              </a:rPr>
              <a:t>Embedding Dim: 768  1600</a:t>
            </a:r>
            <a:endParaRPr lang="en-US" dirty="0"/>
          </a:p>
          <a:p>
            <a:pPr lvl="2"/>
            <a:r>
              <a:rPr lang="en-US" dirty="0"/>
              <a:t>Block size (max context): 512 </a:t>
            </a:r>
            <a:r>
              <a:rPr lang="en-US" dirty="0">
                <a:sym typeface="Wingdings" pitchFamily="2" charset="2"/>
              </a:rPr>
              <a:t> 1024</a:t>
            </a:r>
          </a:p>
          <a:p>
            <a:pPr lvl="2"/>
            <a:r>
              <a:rPr lang="en-US" dirty="0">
                <a:sym typeface="Wingdings" pitchFamily="2" charset="2"/>
              </a:rPr>
              <a:t>Vocab: 40k  50k tokens</a:t>
            </a:r>
          </a:p>
          <a:p>
            <a:r>
              <a:rPr lang="en-US" dirty="0">
                <a:sym typeface="Wingdings" pitchFamily="2" charset="2"/>
              </a:rPr>
              <a:t>Training:</a:t>
            </a:r>
          </a:p>
          <a:p>
            <a:pPr lvl="1"/>
            <a:r>
              <a:rPr lang="en-US" dirty="0">
                <a:sym typeface="Wingdings" pitchFamily="2" charset="2"/>
              </a:rPr>
              <a:t>Dataset: </a:t>
            </a:r>
            <a:r>
              <a:rPr lang="en-US" dirty="0" err="1">
                <a:sym typeface="Wingdings" pitchFamily="2" charset="2"/>
              </a:rPr>
              <a:t>BookCorpus</a:t>
            </a:r>
            <a:r>
              <a:rPr lang="en-US" dirty="0">
                <a:sym typeface="Wingdings" pitchFamily="2" charset="2"/>
              </a:rPr>
              <a:t> (5GB)  </a:t>
            </a:r>
            <a:r>
              <a:rPr lang="en-US" dirty="0" err="1">
                <a:sym typeface="Wingdings" pitchFamily="2" charset="2"/>
              </a:rPr>
              <a:t>WebText</a:t>
            </a:r>
            <a:r>
              <a:rPr lang="en-US" dirty="0">
                <a:sym typeface="Wingdings" pitchFamily="2" charset="2"/>
              </a:rPr>
              <a:t> (40GB)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5C378C-2A1D-2D4A-903D-A8CABF14FDC2}"/>
              </a:ext>
            </a:extLst>
          </p:cNvPr>
          <p:cNvSpPr txBox="1"/>
          <p:nvPr/>
        </p:nvSpPr>
        <p:spPr>
          <a:xfrm>
            <a:off x="3537392" y="5120864"/>
            <a:ext cx="65325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You can reproduce GPT-2 yourself:</a:t>
            </a:r>
          </a:p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3"/>
              </a:rPr>
              <a:t>https://github.com/karpathy/nanoGPT</a:t>
            </a:r>
            <a:endParaRPr lang="en-US" sz="24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  <a:p>
            <a:r>
              <a:rPr lang="en-US" sz="2400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(takes 4 days to train on an 8xA100 machine)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AFC777-F73B-DD42-BEF0-FB5088BC62B4}"/>
              </a:ext>
            </a:extLst>
          </p:cNvPr>
          <p:cNvSpPr txBox="1"/>
          <p:nvPr/>
        </p:nvSpPr>
        <p:spPr>
          <a:xfrm>
            <a:off x="6714635" y="987972"/>
            <a:ext cx="4660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GPT-2: [Radford et al., </a:t>
            </a:r>
            <a:r>
              <a:rPr lang="en-US" b="0" i="0" u="none" strike="noStrike" dirty="0">
                <a:solidFill>
                  <a:srgbClr val="2698BA"/>
                </a:solidFill>
                <a:effectLst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4"/>
              </a:rPr>
              <a:t>Language Models are Unsupervised Multitask Learners</a:t>
            </a:r>
            <a:r>
              <a:rPr lang="en-US" dirty="0">
                <a:solidFill>
                  <a:srgbClr val="2698BA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]</a:t>
            </a:r>
            <a:endParaRPr lang="en-US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8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GPT-2 to GPT-3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A194BA3-08D4-594D-8CBD-927783A5B7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440" y="1524000"/>
            <a:ext cx="9829800" cy="3307829"/>
          </a:xfrm>
        </p:spPr>
        <p:txBody>
          <a:bodyPr/>
          <a:lstStyle/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Scale (1.5B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175B params):</a:t>
            </a:r>
          </a:p>
          <a:p>
            <a:pPr lvl="2"/>
            <a:r>
              <a:rPr lang="en-US" dirty="0"/>
              <a:t>Block size (max context): 1</a:t>
            </a:r>
            <a:r>
              <a:rPr lang="en-US" dirty="0">
                <a:sym typeface="Wingdings" pitchFamily="2" charset="2"/>
              </a:rPr>
              <a:t>024  2048</a:t>
            </a:r>
          </a:p>
          <a:p>
            <a:pPr lvl="2"/>
            <a:r>
              <a:rPr lang="en-US" dirty="0">
                <a:sym typeface="Wingdings" pitchFamily="2" charset="2"/>
              </a:rPr>
              <a:t>Layers: 48  96</a:t>
            </a:r>
          </a:p>
          <a:p>
            <a:pPr lvl="2"/>
            <a:r>
              <a:rPr lang="en-US" dirty="0">
                <a:sym typeface="Wingdings" pitchFamily="2" charset="2"/>
              </a:rPr>
              <a:t>Embedding Dim: 1600  12,288</a:t>
            </a:r>
          </a:p>
          <a:p>
            <a:pPr lvl="2"/>
            <a:r>
              <a:rPr lang="en-US" dirty="0">
                <a:sym typeface="Wingdings" pitchFamily="2" charset="2"/>
              </a:rPr>
              <a:t>Attention Heads: 25  96</a:t>
            </a:r>
          </a:p>
          <a:p>
            <a:r>
              <a:rPr lang="en-US" dirty="0">
                <a:sym typeface="Wingdings" pitchFamily="2" charset="2"/>
              </a:rPr>
              <a:t>Training:</a:t>
            </a:r>
          </a:p>
          <a:p>
            <a:pPr lvl="1"/>
            <a:r>
              <a:rPr lang="en-US" dirty="0">
                <a:sym typeface="Wingdings" pitchFamily="2" charset="2"/>
              </a:rPr>
              <a:t>Dataset: </a:t>
            </a:r>
            <a:r>
              <a:rPr lang="en-US" dirty="0" err="1">
                <a:sym typeface="Wingdings" pitchFamily="2" charset="2"/>
              </a:rPr>
              <a:t>WebText</a:t>
            </a:r>
            <a:r>
              <a:rPr lang="en-US" dirty="0">
                <a:sym typeface="Wingdings" pitchFamily="2" charset="2"/>
              </a:rPr>
              <a:t> (40GB)  Common Crawl + books, Wikipedia, code, etc. (~570GB)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1E872-978B-AF41-8585-A255D92A88D6}"/>
              </a:ext>
            </a:extLst>
          </p:cNvPr>
          <p:cNvSpPr txBox="1"/>
          <p:nvPr/>
        </p:nvSpPr>
        <p:spPr>
          <a:xfrm>
            <a:off x="6402340" y="5447980"/>
            <a:ext cx="4660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333333"/>
                </a:solidFill>
                <a:effectLst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GPT-3: [Brown et al., </a:t>
            </a:r>
            <a:r>
              <a:rPr lang="en-US" sz="2000" b="0" i="0" u="sng" dirty="0">
                <a:solidFill>
                  <a:srgbClr val="2698BA"/>
                </a:solidFill>
                <a:effectLst/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3"/>
              </a:rPr>
              <a:t>Language Models are Few-Shot Learners</a:t>
            </a:r>
            <a:r>
              <a:rPr lang="en-US" sz="2000" dirty="0">
                <a:solidFill>
                  <a:srgbClr val="2698BA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]</a:t>
            </a:r>
            <a:endParaRPr lang="en-US" sz="200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57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GPT-3 to GPT-4?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A194BA3-08D4-594D-8CBD-927783A5B7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439" y="1524000"/>
            <a:ext cx="10201815" cy="3690497"/>
          </a:xfrm>
        </p:spPr>
        <p:txBody>
          <a:bodyPr/>
          <a:lstStyle/>
          <a:p>
            <a:r>
              <a:rPr lang="en-US" dirty="0"/>
              <a:t>Architecture:</a:t>
            </a:r>
          </a:p>
          <a:p>
            <a:pPr lvl="1"/>
            <a:r>
              <a:rPr lang="en-US" dirty="0"/>
              <a:t>Likely includes </a:t>
            </a:r>
            <a:r>
              <a:rPr lang="en-US" dirty="0" err="1"/>
              <a:t>MoE</a:t>
            </a:r>
            <a:endParaRPr lang="en-US" dirty="0"/>
          </a:p>
          <a:p>
            <a:pPr lvl="1"/>
            <a:r>
              <a:rPr lang="en-US" dirty="0"/>
              <a:t>Tokenizer: Includes image patches for multi-modal</a:t>
            </a:r>
          </a:p>
          <a:p>
            <a:pPr lvl="1"/>
            <a:r>
              <a:rPr lang="en-US" dirty="0">
                <a:sym typeface="Wingdings" pitchFamily="2" charset="2"/>
              </a:rPr>
              <a:t>Scale:</a:t>
            </a:r>
          </a:p>
          <a:p>
            <a:pPr lvl="2"/>
            <a:r>
              <a:rPr lang="en-US" dirty="0">
                <a:sym typeface="Wingdings" pitchFamily="2" charset="2"/>
              </a:rPr>
              <a:t>Total parameters: 175B  Likely &gt;1T</a:t>
            </a:r>
          </a:p>
          <a:p>
            <a:pPr lvl="2"/>
            <a:r>
              <a:rPr lang="en-US" dirty="0"/>
              <a:t>Block size (max context): </a:t>
            </a:r>
            <a:r>
              <a:rPr lang="en-US" dirty="0">
                <a:sym typeface="Wingdings" pitchFamily="2" charset="2"/>
              </a:rPr>
              <a:t>2048  128k</a:t>
            </a:r>
          </a:p>
          <a:p>
            <a:r>
              <a:rPr lang="en-US" dirty="0">
                <a:sym typeface="Wingdings" pitchFamily="2" charset="2"/>
              </a:rPr>
              <a:t>Training:</a:t>
            </a:r>
          </a:p>
          <a:p>
            <a:pPr lvl="1"/>
            <a:r>
              <a:rPr lang="en-US" dirty="0">
                <a:sym typeface="Wingdings" pitchFamily="2" charset="2"/>
              </a:rPr>
              <a:t>Dataset: Common Crawl + books, Wikipedia, code, etc. (~570GB)  Larger, undisclosed data training. Reported 13T tokens (~50TB)</a:t>
            </a:r>
          </a:p>
          <a:p>
            <a:pPr lvl="1"/>
            <a:r>
              <a:rPr lang="en-US" dirty="0">
                <a:sym typeface="Wingdings" pitchFamily="2" charset="2"/>
              </a:rPr>
              <a:t>Alignment: Reinforcement learning + human feedback + system-level “safety”</a:t>
            </a:r>
          </a:p>
        </p:txBody>
      </p:sp>
    </p:spTree>
    <p:extLst>
      <p:ext uri="{BB962C8B-B14F-4D97-AF65-F5344CB8AC3E}">
        <p14:creationId xmlns:p14="http://schemas.microsoft.com/office/powerpoint/2010/main" val="204132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DDA1-A9CC-D64B-A966-BAC9CEFA7D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906EE8-6775-564A-AD1A-685D8B998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959" y="1283288"/>
            <a:ext cx="7093081" cy="506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6683E5-7BD5-9040-B67E-244075599B49}"/>
              </a:ext>
            </a:extLst>
          </p:cNvPr>
          <p:cNvSpPr txBox="1"/>
          <p:nvPr/>
        </p:nvSpPr>
        <p:spPr>
          <a:xfrm>
            <a:off x="9325785" y="6201916"/>
            <a:ext cx="215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cap="all" dirty="0">
                <a:effectLst/>
                <a:latin typeface="SF Compact"/>
                <a:hlinkClick r:id="rId4"/>
              </a:rPr>
              <a:t>[Grootendorst]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103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 inside Transformer Decoder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F3A4A5-0501-E74D-9C93-32B722FF0E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1524000"/>
            <a:ext cx="9829800" cy="45467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2F20305E-1CA8-A44E-A0E2-9F0A248607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89"/>
          <a:stretch/>
        </p:blipFill>
        <p:spPr bwMode="auto">
          <a:xfrm>
            <a:off x="1565910" y="1219200"/>
            <a:ext cx="3229610" cy="531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F7AD1F2B-B0AB-2D49-AC65-53CE46041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25"/>
          <a:stretch/>
        </p:blipFill>
        <p:spPr bwMode="auto">
          <a:xfrm>
            <a:off x="4795520" y="1191584"/>
            <a:ext cx="5465672" cy="531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3C554D-2CEB-7B42-859D-456C2371E0E5}"/>
              </a:ext>
            </a:extLst>
          </p:cNvPr>
          <p:cNvSpPr txBox="1"/>
          <p:nvPr/>
        </p:nvSpPr>
        <p:spPr>
          <a:xfrm>
            <a:off x="9325785" y="6201916"/>
            <a:ext cx="215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cap="all" dirty="0">
                <a:effectLst/>
                <a:latin typeface="SF Compact"/>
                <a:hlinkClick r:id="rId4"/>
              </a:rPr>
              <a:t>[Grootendorst]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34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Experts: A probabilistic idea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C554D-2CEB-7B42-859D-456C2371E0E5}"/>
              </a:ext>
            </a:extLst>
          </p:cNvPr>
          <p:cNvSpPr txBox="1"/>
          <p:nvPr/>
        </p:nvSpPr>
        <p:spPr>
          <a:xfrm>
            <a:off x="6723741" y="5832700"/>
            <a:ext cx="4045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3"/>
              </a:rPr>
              <a:t>“Adaptive Mixtures of Local Experts” Jacobs et al 1991</a:t>
            </a:r>
            <a:endParaRPr lang="en-US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4189CA8-28B0-7342-B2DD-2D586FBD9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3999" y="1601462"/>
                <a:ext cx="4899949" cy="2663293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Constrain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4189CA8-28B0-7342-B2DD-2D586FBD9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1601462"/>
                <a:ext cx="4899949" cy="2663293"/>
              </a:xfrm>
              <a:prstGeom prst="rect">
                <a:avLst/>
              </a:prstGeom>
              <a:blipFill>
                <a:blip r:embed="rId4"/>
                <a:stretch>
                  <a:fillRect l="-3886" t="-42381" b="-2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20846A40-E7C2-C046-9B8A-957676D679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989" t="3404"/>
          <a:stretch/>
        </p:blipFill>
        <p:spPr>
          <a:xfrm>
            <a:off x="6327140" y="1252471"/>
            <a:ext cx="4572000" cy="465477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71B616-0635-B84A-834C-E352D6FEE113}"/>
              </a:ext>
            </a:extLst>
          </p:cNvPr>
          <p:cNvCxnSpPr/>
          <p:nvPr/>
        </p:nvCxnSpPr>
        <p:spPr>
          <a:xfrm>
            <a:off x="4074289" y="2615878"/>
            <a:ext cx="5833640" cy="1678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4217A5-9528-3540-A646-241DC0591108}"/>
              </a:ext>
            </a:extLst>
          </p:cNvPr>
          <p:cNvCxnSpPr>
            <a:cxnSpLocks/>
          </p:cNvCxnSpPr>
          <p:nvPr/>
        </p:nvCxnSpPr>
        <p:spPr>
          <a:xfrm>
            <a:off x="5150734" y="2615878"/>
            <a:ext cx="1747777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58E62E-C0D4-7743-B97C-AB5058AE9617}"/>
              </a:ext>
            </a:extLst>
          </p:cNvPr>
          <p:cNvCxnSpPr>
            <a:cxnSpLocks/>
          </p:cNvCxnSpPr>
          <p:nvPr/>
        </p:nvCxnSpPr>
        <p:spPr>
          <a:xfrm>
            <a:off x="5303134" y="2615878"/>
            <a:ext cx="2671822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D54CCA-9180-854B-8636-B17638AD42D6}"/>
              </a:ext>
            </a:extLst>
          </p:cNvPr>
          <p:cNvCxnSpPr>
            <a:cxnSpLocks/>
          </p:cNvCxnSpPr>
          <p:nvPr/>
        </p:nvCxnSpPr>
        <p:spPr>
          <a:xfrm>
            <a:off x="5303134" y="2615878"/>
            <a:ext cx="3848228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CC6EFF-196B-D54B-B1AD-9FD297859807}"/>
              </a:ext>
            </a:extLst>
          </p:cNvPr>
          <p:cNvCxnSpPr/>
          <p:nvPr/>
        </p:nvCxnSpPr>
        <p:spPr>
          <a:xfrm flipV="1">
            <a:off x="4502552" y="2511706"/>
            <a:ext cx="2789499" cy="1481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BB7A602-130D-3949-BD42-CF8A6431B33F}"/>
              </a:ext>
            </a:extLst>
          </p:cNvPr>
          <p:cNvSpPr txBox="1"/>
          <p:nvPr/>
        </p:nvSpPr>
        <p:spPr>
          <a:xfrm>
            <a:off x="457200" y="4965501"/>
            <a:ext cx="6161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How would you estimate these parameters?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256720-6EF0-5741-816D-7A4E7ED438DB}"/>
              </a:ext>
            </a:extLst>
          </p:cNvPr>
          <p:cNvSpPr txBox="1"/>
          <p:nvPr/>
        </p:nvSpPr>
        <p:spPr>
          <a:xfrm>
            <a:off x="457200" y="5381288"/>
            <a:ext cx="651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[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hlinkClick r:id="rId6"/>
              </a:rPr>
              <a:t>Hierarchical mixtures of experts and the EM algorithm</a:t>
            </a:r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, 1993]</a:t>
            </a:r>
          </a:p>
        </p:txBody>
      </p:sp>
    </p:spTree>
    <p:extLst>
      <p:ext uri="{BB962C8B-B14F-4D97-AF65-F5344CB8AC3E}">
        <p14:creationId xmlns:p14="http://schemas.microsoft.com/office/powerpoint/2010/main" val="3511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7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Experts: Unifies Several Approaches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4189CA8-28B0-7342-B2DD-2D586FBD9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3999" y="1601462"/>
                <a:ext cx="9829801" cy="1326325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Let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4189CA8-28B0-7342-B2DD-2D586FBD9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1601462"/>
                <a:ext cx="9829801" cy="1326325"/>
              </a:xfrm>
              <a:prstGeom prst="rect">
                <a:avLst/>
              </a:prstGeom>
              <a:blipFill>
                <a:blip r:embed="rId3"/>
                <a:stretch>
                  <a:fillRect l="-2065" t="-84762" b="-14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BC5FD4BC-0E20-E849-BA55-8D2C209ED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1" y="3053918"/>
                <a:ext cx="9425650" cy="2660024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Mixture of Experts </a:t>
                </a:r>
                <a:r>
                  <a:rPr lang="en-US" dirty="0"/>
                  <a:t>[</a:t>
                </a:r>
                <a:r>
                  <a:rPr lang="en-US" dirty="0">
                    <a:hlinkClick r:id="rId4"/>
                  </a:rPr>
                  <a:t>Jacobs et al 1991</a:t>
                </a:r>
                <a:r>
                  <a:rPr lang="en-US" dirty="0"/>
                  <a:t>]: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a learned gating function. </a:t>
                </a:r>
              </a:p>
              <a:p>
                <a:r>
                  <a:rPr lang="en-US" b="1" dirty="0"/>
                  <a:t>Bagging </a:t>
                </a:r>
                <a:r>
                  <a:rPr lang="en-US" dirty="0"/>
                  <a:t>[</a:t>
                </a:r>
                <a:r>
                  <a:rPr lang="en-US" dirty="0" err="1">
                    <a:hlinkClick r:id="rId5"/>
                  </a:rPr>
                  <a:t>Breiman</a:t>
                </a:r>
                <a:r>
                  <a:rPr lang="en-US" dirty="0">
                    <a:hlinkClick r:id="rId5"/>
                  </a:rPr>
                  <a:t> 1996</a:t>
                </a:r>
                <a:r>
                  <a:rPr lang="en-US" dirty="0"/>
                  <a:t>]: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dirty="0"/>
                  <a:t> is a constant, uniform weighting.</a:t>
                </a:r>
              </a:p>
              <a:p>
                <a:r>
                  <a:rPr lang="en-US" b="1" dirty="0"/>
                  <a:t>Boosting</a:t>
                </a:r>
                <a:r>
                  <a:rPr lang="en-US" dirty="0"/>
                  <a:t> [</a:t>
                </a:r>
                <a:r>
                  <a:rPr lang="en-US" dirty="0">
                    <a:hlinkClick r:id="rId6"/>
                  </a:rPr>
                  <a:t>Freund &amp; </a:t>
                </a:r>
                <a:r>
                  <a:rPr lang="en-US" dirty="0" err="1">
                    <a:hlinkClick r:id="rId6"/>
                  </a:rPr>
                  <a:t>Schapire</a:t>
                </a:r>
                <a:r>
                  <a:rPr lang="en-US" dirty="0">
                    <a:hlinkClick r:id="rId6"/>
                  </a:rPr>
                  <a:t> 1997</a:t>
                </a:r>
                <a:r>
                  <a:rPr lang="en-US" dirty="0"/>
                  <a:t>]: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is a constant per-expert weight.</a:t>
                </a:r>
              </a:p>
            </p:txBody>
          </p:sp>
        </mc:Choice>
        <mc:Fallback xmlns="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BC5FD4BC-0E20-E849-BA55-8D2C209ED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3053918"/>
                <a:ext cx="9425650" cy="2660024"/>
              </a:xfrm>
              <a:prstGeom prst="rect">
                <a:avLst/>
              </a:prstGeom>
              <a:blipFill>
                <a:blip r:embed="rId7"/>
                <a:stretch>
                  <a:fillRect l="-2019" t="-3333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63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Experts: Some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4189CA8-28B0-7342-B2DD-2D586FBD9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3999" y="1416262"/>
                <a:ext cx="9829801" cy="1326325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Let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Content Placeholder 1">
                <a:extLst>
                  <a:ext uri="{FF2B5EF4-FFF2-40B4-BE49-F238E27FC236}">
                    <a16:creationId xmlns:a16="http://schemas.microsoft.com/office/drawing/2014/main" id="{94189CA8-28B0-7342-B2DD-2D586FBD9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1416262"/>
                <a:ext cx="9829801" cy="1326325"/>
              </a:xfrm>
              <a:prstGeom prst="rect">
                <a:avLst/>
              </a:prstGeom>
              <a:blipFill>
                <a:blip r:embed="rId3"/>
                <a:stretch>
                  <a:fillRect l="-2065" t="-83019" b="-148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BC5FD4BC-0E20-E849-BA55-8D2C209ED3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1" y="2868718"/>
                <a:ext cx="9425650" cy="1326325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Let’s examine the mean functions. Define: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sepChr m:val="∣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sepChr m:val="∣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BC5FD4BC-0E20-E849-BA55-8D2C209ED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2868718"/>
                <a:ext cx="9425650" cy="1326325"/>
              </a:xfrm>
              <a:prstGeom prst="rect">
                <a:avLst/>
              </a:prstGeom>
              <a:blipFill>
                <a:blip r:embed="rId4"/>
                <a:stretch>
                  <a:fillRect l="-2019" t="-84762" b="-14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FAF197C-E488-3C42-ABA0-7C200821D0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24001" y="4256392"/>
                <a:ext cx="4656880" cy="1515864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Let’s compare: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FAF197C-E488-3C42-ABA0-7C200821D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4256392"/>
                <a:ext cx="4656880" cy="1515864"/>
              </a:xfrm>
              <a:prstGeom prst="rect">
                <a:avLst/>
              </a:prstGeom>
              <a:blipFill>
                <a:blip r:embed="rId5"/>
                <a:stretch>
                  <a:fillRect l="-4087" t="-6667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99750A1-0256-6148-ACC3-10DCF74AEBE2}"/>
              </a:ext>
            </a:extLst>
          </p:cNvPr>
          <p:cNvSpPr txBox="1"/>
          <p:nvPr/>
        </p:nvSpPr>
        <p:spPr>
          <a:xfrm>
            <a:off x="6096000" y="4676167"/>
            <a:ext cx="268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“Ensemble error”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7A75E-CD66-5B4C-BBB1-973E35A1F878}"/>
              </a:ext>
            </a:extLst>
          </p:cNvPr>
          <p:cNvSpPr txBox="1"/>
          <p:nvPr/>
        </p:nvSpPr>
        <p:spPr>
          <a:xfrm>
            <a:off x="6396567" y="5270475"/>
            <a:ext cx="411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“Average expert error”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69505-731C-8B4D-9DFC-D924B9187B76}"/>
              </a:ext>
            </a:extLst>
          </p:cNvPr>
          <p:cNvSpPr txBox="1"/>
          <p:nvPr/>
        </p:nvSpPr>
        <p:spPr>
          <a:xfrm>
            <a:off x="2379784" y="5833605"/>
            <a:ext cx="803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Will these be minimized for the same ensemble?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06BB0D-4890-1946-BA81-D4F0FF0D3534}"/>
              </a:ext>
            </a:extLst>
          </p:cNvPr>
          <p:cNvCxnSpPr/>
          <p:nvPr/>
        </p:nvCxnSpPr>
        <p:spPr>
          <a:xfrm flipH="1">
            <a:off x="5013552" y="4860833"/>
            <a:ext cx="98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34779B-B097-FD43-83E3-99682D264329}"/>
              </a:ext>
            </a:extLst>
          </p:cNvPr>
          <p:cNvCxnSpPr/>
          <p:nvPr/>
        </p:nvCxnSpPr>
        <p:spPr>
          <a:xfrm flipH="1">
            <a:off x="5414433" y="5456541"/>
            <a:ext cx="98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D2FE77E-8420-64E2-5E60-FF698E31FDCE}"/>
              </a:ext>
            </a:extLst>
          </p:cNvPr>
          <p:cNvSpPr txBox="1"/>
          <p:nvPr/>
        </p:nvSpPr>
        <p:spPr>
          <a:xfrm>
            <a:off x="457200" y="209794"/>
            <a:ext cx="1138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5050C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338316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8" grpId="0"/>
      <p:bldP spid="3" grpId="0"/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Experts: Some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FAF197C-E488-3C42-ABA0-7C200821D0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238" y="2271812"/>
                <a:ext cx="4656880" cy="1378326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FAF197C-E488-3C42-ABA0-7C200821D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38" y="2271812"/>
                <a:ext cx="4656880" cy="1378326"/>
              </a:xfrm>
              <a:prstGeom prst="rect">
                <a:avLst/>
              </a:prstGeom>
              <a:blipFill>
                <a:blip r:embed="rId3"/>
                <a:stretch>
                  <a:fillRect l="-4076" b="-65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99750A1-0256-6148-ACC3-10DCF74AEBE2}"/>
              </a:ext>
            </a:extLst>
          </p:cNvPr>
          <p:cNvSpPr txBox="1"/>
          <p:nvPr/>
        </p:nvSpPr>
        <p:spPr>
          <a:xfrm>
            <a:off x="5138438" y="2477699"/>
            <a:ext cx="1935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“Ensemble error”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7A75E-CD66-5B4C-BBB1-973E35A1F878}"/>
              </a:ext>
            </a:extLst>
          </p:cNvPr>
          <p:cNvSpPr txBox="1"/>
          <p:nvPr/>
        </p:nvSpPr>
        <p:spPr>
          <a:xfrm>
            <a:off x="5541968" y="3179668"/>
            <a:ext cx="175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“Average expert error”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06BB0D-4890-1946-BA81-D4F0FF0D3534}"/>
              </a:ext>
            </a:extLst>
          </p:cNvPr>
          <p:cNvCxnSpPr/>
          <p:nvPr/>
        </p:nvCxnSpPr>
        <p:spPr>
          <a:xfrm flipH="1">
            <a:off x="4098618" y="2642275"/>
            <a:ext cx="98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34779B-B097-FD43-83E3-99682D264329}"/>
              </a:ext>
            </a:extLst>
          </p:cNvPr>
          <p:cNvCxnSpPr>
            <a:cxnSpLocks/>
          </p:cNvCxnSpPr>
          <p:nvPr/>
        </p:nvCxnSpPr>
        <p:spPr>
          <a:xfrm flipH="1">
            <a:off x="5085731" y="3340860"/>
            <a:ext cx="4562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E198019A-5975-D945-B335-0A26D392A8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16" t="4577" r="3538"/>
          <a:stretch/>
        </p:blipFill>
        <p:spPr>
          <a:xfrm>
            <a:off x="7750059" y="1681499"/>
            <a:ext cx="3813050" cy="349500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FBAB5-5B8D-C745-A1C0-84308275CA8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073903" y="2662365"/>
            <a:ext cx="1641834" cy="90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467B8B-EC01-2D47-A294-75838210A471}"/>
              </a:ext>
            </a:extLst>
          </p:cNvPr>
          <p:cNvCxnSpPr>
            <a:cxnSpLocks/>
          </p:cNvCxnSpPr>
          <p:nvPr/>
        </p:nvCxnSpPr>
        <p:spPr>
          <a:xfrm flipV="1">
            <a:off x="6736466" y="3179668"/>
            <a:ext cx="1898248" cy="24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CB609F4-186F-D146-B224-54E9BBC3BE01}"/>
              </a:ext>
            </a:extLst>
          </p:cNvPr>
          <p:cNvSpPr/>
          <p:nvPr/>
        </p:nvSpPr>
        <p:spPr>
          <a:xfrm>
            <a:off x="8426370" y="3923817"/>
            <a:ext cx="2927430" cy="706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1CCCD8-2EAE-7D4D-B8D2-D59EAF1DFFF8}"/>
              </a:ext>
            </a:extLst>
          </p:cNvPr>
          <p:cNvSpPr txBox="1"/>
          <p:nvPr/>
        </p:nvSpPr>
        <p:spPr>
          <a:xfrm>
            <a:off x="8426369" y="4943271"/>
            <a:ext cx="321149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Diversity in Experts </a:t>
            </a:r>
          </a:p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(% Unique Training Data)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E400B-FCBD-BB43-9A46-84474E02C4D2}"/>
              </a:ext>
            </a:extLst>
          </p:cNvPr>
          <p:cNvSpPr txBox="1"/>
          <p:nvPr/>
        </p:nvSpPr>
        <p:spPr>
          <a:xfrm>
            <a:off x="8759454" y="5802868"/>
            <a:ext cx="226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[</a:t>
            </a:r>
            <a:r>
              <a:rPr lang="en-US" dirty="0" err="1">
                <a:hlinkClick r:id="rId5"/>
              </a:rPr>
              <a:t>Sollich</a:t>
            </a:r>
            <a:r>
              <a:rPr lang="en-US" dirty="0">
                <a:hlinkClick r:id="rId5"/>
              </a:rPr>
              <a:t> &amp; Krogh 1995]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9D44D5-1FBE-7C48-A97D-346AE3E9FF01}"/>
                  </a:ext>
                </a:extLst>
              </p:cNvPr>
              <p:cNvSpPr txBox="1"/>
              <p:nvPr/>
            </p:nvSpPr>
            <p:spPr>
              <a:xfrm>
                <a:off x="9078620" y="1301550"/>
                <a:ext cx="14588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Linear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9D44D5-1FBE-7C48-A97D-346AE3E9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620" y="1301550"/>
                <a:ext cx="1458861" cy="461665"/>
              </a:xfrm>
              <a:prstGeom prst="rect">
                <a:avLst/>
              </a:prstGeom>
              <a:blipFill>
                <a:blip r:embed="rId6"/>
                <a:stretch>
                  <a:fillRect l="-603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A88DD05-2C27-318B-EF49-76623BF18A13}"/>
              </a:ext>
            </a:extLst>
          </p:cNvPr>
          <p:cNvSpPr txBox="1"/>
          <p:nvPr/>
        </p:nvSpPr>
        <p:spPr>
          <a:xfrm>
            <a:off x="457200" y="209794"/>
            <a:ext cx="1138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5050C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06590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9" grpId="0"/>
      <p:bldP spid="21" grpId="0" animBg="1"/>
      <p:bldP spid="22" grpId="0" animBg="1"/>
      <p:bldP spid="23" grpId="0"/>
      <p:bldP spid="2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Experts: Some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FAF197C-E488-3C42-ABA0-7C200821D0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8238" y="2271812"/>
                <a:ext cx="4656880" cy="1378326"/>
              </a:xfrm>
              <a:prstGeom prst="rect">
                <a:avLst/>
              </a:prstGeom>
            </p:spPr>
            <p:txBody>
              <a:bodyPr vert="horz" wrap="square" lIns="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6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>
                        <a:lumMod val="90000"/>
                        <a:lumOff val="10000"/>
                      </a:schemeClr>
                    </a:solidFill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≔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9FAF197C-E488-3C42-ABA0-7C200821D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38" y="2271812"/>
                <a:ext cx="4656880" cy="1378326"/>
              </a:xfrm>
              <a:prstGeom prst="rect">
                <a:avLst/>
              </a:prstGeom>
              <a:blipFill>
                <a:blip r:embed="rId3"/>
                <a:stretch>
                  <a:fillRect l="-4076" b="-65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99750A1-0256-6148-ACC3-10DCF74AEBE2}"/>
              </a:ext>
            </a:extLst>
          </p:cNvPr>
          <p:cNvSpPr txBox="1"/>
          <p:nvPr/>
        </p:nvSpPr>
        <p:spPr>
          <a:xfrm>
            <a:off x="5138438" y="2477699"/>
            <a:ext cx="1935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“Ensemble error”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7A75E-CD66-5B4C-BBB1-973E35A1F878}"/>
              </a:ext>
            </a:extLst>
          </p:cNvPr>
          <p:cNvSpPr txBox="1"/>
          <p:nvPr/>
        </p:nvSpPr>
        <p:spPr>
          <a:xfrm>
            <a:off x="5541968" y="3179668"/>
            <a:ext cx="175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“Average expert error”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A06BB0D-4890-1946-BA81-D4F0FF0D3534}"/>
              </a:ext>
            </a:extLst>
          </p:cNvPr>
          <p:cNvCxnSpPr/>
          <p:nvPr/>
        </p:nvCxnSpPr>
        <p:spPr>
          <a:xfrm flipH="1">
            <a:off x="4098618" y="2642275"/>
            <a:ext cx="982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34779B-B097-FD43-83E3-99682D264329}"/>
              </a:ext>
            </a:extLst>
          </p:cNvPr>
          <p:cNvCxnSpPr>
            <a:cxnSpLocks/>
          </p:cNvCxnSpPr>
          <p:nvPr/>
        </p:nvCxnSpPr>
        <p:spPr>
          <a:xfrm flipH="1">
            <a:off x="5085731" y="3340860"/>
            <a:ext cx="4562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E198019A-5975-D945-B335-0A26D392A8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16" t="4577" r="3538"/>
          <a:stretch/>
        </p:blipFill>
        <p:spPr>
          <a:xfrm>
            <a:off x="7750059" y="1681499"/>
            <a:ext cx="3813050" cy="349500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68FBAB5-5B8D-C745-A1C0-84308275CA8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7073903" y="2662365"/>
            <a:ext cx="1641834" cy="902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467B8B-EC01-2D47-A294-75838210A471}"/>
              </a:ext>
            </a:extLst>
          </p:cNvPr>
          <p:cNvCxnSpPr>
            <a:cxnSpLocks/>
          </p:cNvCxnSpPr>
          <p:nvPr/>
        </p:nvCxnSpPr>
        <p:spPr>
          <a:xfrm flipV="1">
            <a:off x="6736466" y="3179668"/>
            <a:ext cx="1898248" cy="249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61CCCD8-2EAE-7D4D-B8D2-D59EAF1DFFF8}"/>
              </a:ext>
            </a:extLst>
          </p:cNvPr>
          <p:cNvSpPr txBox="1"/>
          <p:nvPr/>
        </p:nvSpPr>
        <p:spPr>
          <a:xfrm>
            <a:off x="8367710" y="4941557"/>
            <a:ext cx="321149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Diversity in Experts </a:t>
            </a:r>
          </a:p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(% Unique Training Data)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E400B-FCBD-BB43-9A46-84474E02C4D2}"/>
              </a:ext>
            </a:extLst>
          </p:cNvPr>
          <p:cNvSpPr txBox="1"/>
          <p:nvPr/>
        </p:nvSpPr>
        <p:spPr>
          <a:xfrm>
            <a:off x="8759454" y="5802868"/>
            <a:ext cx="226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[</a:t>
            </a:r>
            <a:r>
              <a:rPr lang="en-US" dirty="0" err="1">
                <a:hlinkClick r:id="rId5"/>
              </a:rPr>
              <a:t>Sollich</a:t>
            </a:r>
            <a:r>
              <a:rPr lang="en-US" dirty="0">
                <a:hlinkClick r:id="rId5"/>
              </a:rPr>
              <a:t> &amp; Krogh 1995]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9D44D5-1FBE-7C48-A97D-346AE3E9FF01}"/>
                  </a:ext>
                </a:extLst>
              </p:cNvPr>
              <p:cNvSpPr txBox="1"/>
              <p:nvPr/>
            </p:nvSpPr>
            <p:spPr>
              <a:xfrm>
                <a:off x="9078620" y="1301550"/>
                <a:ext cx="14588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Red Hat Text" panose="02010303040201060303" pitchFamily="2" charset="0"/>
                    <a:ea typeface="Red Hat Text" panose="02010303040201060303" pitchFamily="2" charset="0"/>
                    <a:cs typeface="Red Hat Text" panose="02010303040201060303" pitchFamily="2" charset="0"/>
                  </a:rPr>
                  <a:t>Linear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39D44D5-1FBE-7C48-A97D-346AE3E9F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620" y="1301550"/>
                <a:ext cx="1458861" cy="461665"/>
              </a:xfrm>
              <a:prstGeom prst="rect">
                <a:avLst/>
              </a:prstGeom>
              <a:blipFill>
                <a:blip r:embed="rId6"/>
                <a:stretch>
                  <a:fillRect l="-603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648239C0-CE63-DE4B-91D4-2CAC586B9C95}"/>
              </a:ext>
            </a:extLst>
          </p:cNvPr>
          <p:cNvSpPr txBox="1"/>
          <p:nvPr/>
        </p:nvSpPr>
        <p:spPr>
          <a:xfrm>
            <a:off x="5883689" y="4546504"/>
            <a:ext cx="17518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“Disagreement between experts”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52289E-5154-B846-BB00-CE0F3CF83483}"/>
              </a:ext>
            </a:extLst>
          </p:cNvPr>
          <p:cNvCxnSpPr>
            <a:cxnSpLocks/>
          </p:cNvCxnSpPr>
          <p:nvPr/>
        </p:nvCxnSpPr>
        <p:spPr>
          <a:xfrm flipV="1">
            <a:off x="7546694" y="4290197"/>
            <a:ext cx="1111170" cy="552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7D82AC5-43B1-D24D-8D79-2BF632845414}"/>
              </a:ext>
            </a:extLst>
          </p:cNvPr>
          <p:cNvSpPr txBox="1"/>
          <p:nvPr/>
        </p:nvSpPr>
        <p:spPr>
          <a:xfrm>
            <a:off x="536621" y="4242132"/>
            <a:ext cx="4656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Intuition:</a:t>
            </a:r>
            <a:r>
              <a:rPr lang="en-US" sz="2400" dirty="0">
                <a:solidFill>
                  <a:srgbClr val="C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 Expert errors are wrong in individualized ways and cancel out through consensus.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77D260-47F5-8340-8267-B9F1112C1AF2}"/>
              </a:ext>
            </a:extLst>
          </p:cNvPr>
          <p:cNvSpPr txBox="1"/>
          <p:nvPr/>
        </p:nvSpPr>
        <p:spPr>
          <a:xfrm>
            <a:off x="608584" y="5675003"/>
            <a:ext cx="5775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  <a:sym typeface="Wingdings" pitchFamily="2" charset="2"/>
              </a:rPr>
              <a:t> Slight “overfitting” of experts helps!</a:t>
            </a:r>
            <a:endParaRPr lang="en-US" sz="2400" dirty="0">
              <a:solidFill>
                <a:srgbClr val="C00000"/>
              </a:solidFill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4CB0A7-9231-D591-10E9-61A1EC5A4D9F}"/>
              </a:ext>
            </a:extLst>
          </p:cNvPr>
          <p:cNvSpPr txBox="1"/>
          <p:nvPr/>
        </p:nvSpPr>
        <p:spPr>
          <a:xfrm>
            <a:off x="457200" y="209794"/>
            <a:ext cx="1138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5050C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Bonus</a:t>
            </a:r>
          </a:p>
        </p:txBody>
      </p:sp>
    </p:spTree>
    <p:extLst>
      <p:ext uri="{BB962C8B-B14F-4D97-AF65-F5344CB8AC3E}">
        <p14:creationId xmlns:p14="http://schemas.microsoft.com/office/powerpoint/2010/main" val="117916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Experts: In LLMs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F3A4A5-0501-E74D-9C93-32B722FF0E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3428999"/>
            <a:ext cx="4226560" cy="814775"/>
          </a:xfrm>
        </p:spPr>
        <p:txBody>
          <a:bodyPr/>
          <a:lstStyle/>
          <a:p>
            <a:r>
              <a:rPr lang="en-US" dirty="0"/>
              <a:t>Implications for training?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3C554D-2CEB-7B42-859D-456C2371E0E5}"/>
              </a:ext>
            </a:extLst>
          </p:cNvPr>
          <p:cNvSpPr txBox="1"/>
          <p:nvPr/>
        </p:nvSpPr>
        <p:spPr>
          <a:xfrm>
            <a:off x="9325785" y="6201916"/>
            <a:ext cx="2154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cap="all" dirty="0">
                <a:effectLst/>
                <a:latin typeface="SF Compact"/>
                <a:hlinkClick r:id="rId3"/>
              </a:rPr>
              <a:t>[Grootendorst]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2117500-8655-AE47-A6E8-01A08EF08A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71" r="12407" b="5249"/>
          <a:stretch/>
        </p:blipFill>
        <p:spPr bwMode="auto">
          <a:xfrm>
            <a:off x="6796119" y="382301"/>
            <a:ext cx="4318001" cy="577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94189CA8-28B0-7342-B2DD-2D586FBD9863}"/>
              </a:ext>
            </a:extLst>
          </p:cNvPr>
          <p:cNvSpPr txBox="1">
            <a:spLocks/>
          </p:cNvSpPr>
          <p:nvPr/>
        </p:nvSpPr>
        <p:spPr>
          <a:xfrm>
            <a:off x="1524000" y="1708077"/>
            <a:ext cx="4155440" cy="454676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Implications for serving?</a:t>
            </a:r>
          </a:p>
        </p:txBody>
      </p:sp>
      <p:pic>
        <p:nvPicPr>
          <p:cNvPr id="5" name="Picture 4" descr="A graph of training loss&#10;&#10;Description automatically generated">
            <a:extLst>
              <a:ext uri="{FF2B5EF4-FFF2-40B4-BE49-F238E27FC236}">
                <a16:creationId xmlns:a16="http://schemas.microsoft.com/office/drawing/2014/main" id="{310260C7-A812-0742-9417-BF5CE52AF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5589" y="3836386"/>
            <a:ext cx="3550850" cy="2628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C3558A-1863-DA48-AB05-13320C90F36C}"/>
              </a:ext>
            </a:extLst>
          </p:cNvPr>
          <p:cNvSpPr txBox="1"/>
          <p:nvPr/>
        </p:nvSpPr>
        <p:spPr>
          <a:xfrm>
            <a:off x="1410717" y="4320008"/>
            <a:ext cx="1594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rPr>
              <a:t>Easy to have experts over-specialize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F7256-19AE-D846-83E7-5701932F419E}"/>
              </a:ext>
            </a:extLst>
          </p:cNvPr>
          <p:cNvSpPr txBox="1"/>
          <p:nvPr/>
        </p:nvSpPr>
        <p:spPr>
          <a:xfrm>
            <a:off x="5024180" y="6407088"/>
            <a:ext cx="1689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cap="all" dirty="0">
                <a:effectLst/>
                <a:latin typeface="SF Compact"/>
                <a:hlinkClick r:id="rId3"/>
              </a:rPr>
              <a:t>[</a:t>
            </a:r>
            <a:r>
              <a:rPr lang="en-US" b="0" i="0" cap="all" dirty="0">
                <a:effectLst/>
                <a:latin typeface="SF Compact"/>
                <a:hlinkClick r:id="rId6"/>
              </a:rPr>
              <a:t>Xie et al 2022</a:t>
            </a:r>
            <a:r>
              <a:rPr lang="en-US" b="0" i="0" cap="all" dirty="0">
                <a:effectLst/>
                <a:latin typeface="SF Compact"/>
                <a:hlinkClick r:id="rId3"/>
              </a:rPr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39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/>
      <p:bldP spid="6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From Transformer to GPT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707FC9-120F-A445-9FC0-0502F475A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615721"/>
              </p:ext>
            </p:extLst>
          </p:nvPr>
        </p:nvGraphicFramePr>
        <p:xfrm>
          <a:off x="851221" y="1828800"/>
          <a:ext cx="10108557" cy="3935395"/>
        </p:xfrm>
        <a:graphic>
          <a:graphicData uri="http://schemas.openxmlformats.org/drawingml/2006/table">
            <a:tbl>
              <a:tblPr/>
              <a:tblGrid>
                <a:gridCol w="2807278">
                  <a:extLst>
                    <a:ext uri="{9D8B030D-6E8A-4147-A177-3AD203B41FA5}">
                      <a16:colId xmlns:a16="http://schemas.microsoft.com/office/drawing/2014/main" val="4216955078"/>
                    </a:ext>
                  </a:extLst>
                </a:gridCol>
                <a:gridCol w="3113164">
                  <a:extLst>
                    <a:ext uri="{9D8B030D-6E8A-4147-A177-3AD203B41FA5}">
                      <a16:colId xmlns:a16="http://schemas.microsoft.com/office/drawing/2014/main" val="286484232"/>
                    </a:ext>
                  </a:extLst>
                </a:gridCol>
                <a:gridCol w="4188115">
                  <a:extLst>
                    <a:ext uri="{9D8B030D-6E8A-4147-A177-3AD203B41FA5}">
                      <a16:colId xmlns:a16="http://schemas.microsoft.com/office/drawing/2014/main" val="3992314815"/>
                    </a:ext>
                  </a:extLst>
                </a:gridCol>
              </a:tblGrid>
              <a:tr h="50494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Component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Transformer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GPT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969613"/>
                  </a:ext>
                </a:extLst>
              </a:tr>
              <a:tr h="50494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Architecture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Encoder-decoder (full)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Decoder-only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712071"/>
                  </a:ext>
                </a:extLst>
              </a:tr>
              <a:tr h="50494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Attention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Full self-attention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Masked (causal) self-attention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8223215"/>
                  </a:ext>
                </a:extLst>
              </a:tr>
              <a:tr h="50494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Positional encoding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Sinusoidal (original)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Learned positional embeddings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175991"/>
                  </a:ext>
                </a:extLst>
              </a:tr>
              <a:tr h="504947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Output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Task-specific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Next-token prediction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958416"/>
                  </a:ext>
                </a:extLst>
              </a:tr>
              <a:tr h="905713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Training objective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Flexible (e.g., translation)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Language modeling (autoregressive)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509489"/>
                  </a:ext>
                </a:extLst>
              </a:tr>
              <a:tr h="50494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Inference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Depends on task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ed Hat Text" panose="02010303040201060303" pitchFamily="2" charset="0"/>
                          <a:ea typeface="Red Hat Text" panose="02010303040201060303" pitchFamily="2" charset="0"/>
                          <a:cs typeface="Red Hat Text" panose="02010303040201060303" pitchFamily="2" charset="0"/>
                        </a:rPr>
                        <a:t>Greedy / sampling for text gen</a:t>
                      </a:r>
                    </a:p>
                  </a:txBody>
                  <a:tcPr marL="63387" marR="63387" marT="31693" marB="316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397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253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6FB33B-F2C0-A347-2740-14261EC21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From GPT-1 to GPT-4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13DF1-F5BA-FD44-AB37-3592199D9B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5013552" cy="324384"/>
          </a:xfrm>
        </p:spPr>
        <p:txBody>
          <a:bodyPr/>
          <a:lstStyle/>
          <a:p>
            <a:r>
              <a:rPr lang="en-US" dirty="0"/>
              <a:t>Ben Lengerich © University of Wisconsin-Madison 2025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D9FFBF0-89ED-9B40-9412-6A41ED3889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3999" y="1520149"/>
            <a:ext cx="9946511" cy="4395242"/>
          </a:xfrm>
        </p:spPr>
        <p:txBody>
          <a:bodyPr/>
          <a:lstStyle/>
          <a:p>
            <a:r>
              <a:rPr lang="en-US" b="1" dirty="0"/>
              <a:t>Architecture:</a:t>
            </a:r>
          </a:p>
          <a:p>
            <a:pPr lvl="1"/>
            <a:r>
              <a:rPr lang="en-US" b="1" dirty="0"/>
              <a:t>Scale:</a:t>
            </a:r>
            <a:r>
              <a:rPr lang="en-US" dirty="0"/>
              <a:t> Variety of options, with biggest (1.5B params </a:t>
            </a:r>
            <a:r>
              <a:rPr lang="en-US" dirty="0">
                <a:sym typeface="Wingdings" pitchFamily="2" charset="2"/>
              </a:rPr>
              <a:t> &gt;1T params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Block size (max context): 512 </a:t>
            </a:r>
            <a:r>
              <a:rPr lang="en-US" dirty="0">
                <a:sym typeface="Wingdings" pitchFamily="2" charset="2"/>
              </a:rPr>
              <a:t> 128k</a:t>
            </a:r>
          </a:p>
          <a:p>
            <a:pPr lvl="2"/>
            <a:r>
              <a:rPr lang="en-US" dirty="0"/>
              <a:t>Layers: 12 </a:t>
            </a:r>
            <a:r>
              <a:rPr lang="en-US" dirty="0">
                <a:sym typeface="Wingdings" pitchFamily="2" charset="2"/>
              </a:rPr>
              <a:t> &gt;96</a:t>
            </a:r>
          </a:p>
          <a:p>
            <a:pPr lvl="2"/>
            <a:r>
              <a:rPr lang="en-US" dirty="0">
                <a:sym typeface="Wingdings" pitchFamily="2" charset="2"/>
              </a:rPr>
              <a:t>Attention Heads: 12  &gt;96</a:t>
            </a:r>
          </a:p>
          <a:p>
            <a:pPr lvl="2"/>
            <a:r>
              <a:rPr lang="en-US" dirty="0">
                <a:sym typeface="Wingdings" pitchFamily="2" charset="2"/>
              </a:rPr>
              <a:t>Embedding Dim: 768  &gt;12,288</a:t>
            </a:r>
            <a:endParaRPr lang="en-US" dirty="0"/>
          </a:p>
          <a:p>
            <a:pPr lvl="2"/>
            <a:r>
              <a:rPr lang="en-US" dirty="0">
                <a:sym typeface="Wingdings" pitchFamily="2" charset="2"/>
              </a:rPr>
              <a:t>Vocab: 40k  &gt;50k tokens</a:t>
            </a:r>
          </a:p>
          <a:p>
            <a:pPr lvl="1"/>
            <a:r>
              <a:rPr lang="en-US" dirty="0">
                <a:sym typeface="Wingdings" pitchFamily="2" charset="2"/>
              </a:rPr>
              <a:t>Tokenizer: Includes image patches for multimodal</a:t>
            </a:r>
          </a:p>
          <a:p>
            <a:pPr lvl="1"/>
            <a:r>
              <a:rPr lang="en-US" b="1" dirty="0">
                <a:sym typeface="Wingdings" pitchFamily="2" charset="2"/>
              </a:rPr>
              <a:t>Mixture-of-Experts</a:t>
            </a:r>
          </a:p>
          <a:p>
            <a:r>
              <a:rPr lang="en-US" b="1" dirty="0">
                <a:sym typeface="Wingdings" pitchFamily="2" charset="2"/>
              </a:rPr>
              <a:t>Training:</a:t>
            </a:r>
          </a:p>
          <a:p>
            <a:pPr lvl="1"/>
            <a:r>
              <a:rPr lang="en-US" dirty="0">
                <a:sym typeface="Wingdings" pitchFamily="2" charset="2"/>
              </a:rPr>
              <a:t>Dataset: </a:t>
            </a:r>
            <a:r>
              <a:rPr lang="en-US" dirty="0" err="1">
                <a:sym typeface="Wingdings" pitchFamily="2" charset="2"/>
              </a:rPr>
              <a:t>BookCorpus</a:t>
            </a:r>
            <a:r>
              <a:rPr lang="en-US" dirty="0">
                <a:sym typeface="Wingdings" pitchFamily="2" charset="2"/>
              </a:rPr>
              <a:t> (5GB)  Private 13T tokens (~50TB)</a:t>
            </a:r>
          </a:p>
          <a:p>
            <a:pPr lvl="1"/>
            <a:r>
              <a:rPr lang="en-US" dirty="0">
                <a:sym typeface="Wingdings" pitchFamily="2" charset="2"/>
              </a:rPr>
              <a:t>Reinforcement learning for alignment</a:t>
            </a:r>
          </a:p>
        </p:txBody>
      </p:sp>
    </p:spTree>
    <p:extLst>
      <p:ext uri="{BB962C8B-B14F-4D97-AF65-F5344CB8AC3E}">
        <p14:creationId xmlns:p14="http://schemas.microsoft.com/office/powerpoint/2010/main" val="211289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C8BB5-6571-AC4E-82C8-608AFBF1D65A}"/>
              </a:ext>
            </a:extLst>
          </p:cNvPr>
          <p:cNvSpPr txBox="1"/>
          <p:nvPr/>
        </p:nvSpPr>
        <p:spPr>
          <a:xfrm>
            <a:off x="1524000" y="1219200"/>
            <a:ext cx="2247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25822</TotalTime>
  <Words>1698</Words>
  <Application>Microsoft Macintosh PowerPoint</Application>
  <PresentationFormat>Widescreen</PresentationFormat>
  <Paragraphs>300</Paragraphs>
  <Slides>37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SF Compact</vt:lpstr>
      <vt:lpstr>Arial</vt:lpstr>
      <vt:lpstr>Calibri</vt:lpstr>
      <vt:lpstr>Cambria Math</vt:lpstr>
      <vt:lpstr>Red Hat Display</vt:lpstr>
      <vt:lpstr>Red Hat Text</vt:lpstr>
      <vt:lpstr>Wingdings</vt:lpstr>
      <vt:lpstr>Office Theme</vt:lpstr>
      <vt:lpstr>STAT 453: Introduction to Deep Learning and Generative Models</vt:lpstr>
      <vt:lpstr>From RNN…</vt:lpstr>
      <vt:lpstr>From RNN…to GPT</vt:lpstr>
      <vt:lpstr>From RNN…to GPT…by Transformers</vt:lpstr>
      <vt:lpstr>From RNN…to GPT…by Transformers</vt:lpstr>
      <vt:lpstr>Self-attention (very basic form)</vt:lpstr>
      <vt:lpstr>Learnable Self-attention</vt:lpstr>
      <vt:lpstr>Learnable Self-attention</vt:lpstr>
      <vt:lpstr>At the end of the day…</vt:lpstr>
      <vt:lpstr>The ”Transformer”</vt:lpstr>
      <vt:lpstr>Many variants of transformer architectures</vt:lpstr>
      <vt:lpstr>Many variants of transformer architectures</vt:lpstr>
      <vt:lpstr>Today: GPT</vt:lpstr>
      <vt:lpstr>From Transformer to GPT</vt:lpstr>
      <vt:lpstr>Recall the ”Transformer”</vt:lpstr>
      <vt:lpstr>Recall the ”Transformer”</vt:lpstr>
      <vt:lpstr>From Sequence Transduction to Sequence Modeling</vt:lpstr>
      <vt:lpstr>GPT = Probabilistic Model + Transformer Decoder</vt:lpstr>
      <vt:lpstr>GPT = Probabilistic Model + Transformer Decoder</vt:lpstr>
      <vt:lpstr>Let’s write a GPT</vt:lpstr>
      <vt:lpstr>Let’s write a GPT</vt:lpstr>
      <vt:lpstr>From our “GPT” to GPT-4</vt:lpstr>
      <vt:lpstr>From our “GPT-0” to GPT-1</vt:lpstr>
      <vt:lpstr>From GPT-1 to GPT-2</vt:lpstr>
      <vt:lpstr>From GPT-2 to GPT-3</vt:lpstr>
      <vt:lpstr>From GPT-3 to GPT-4?</vt:lpstr>
      <vt:lpstr>Mixture of Experts</vt:lpstr>
      <vt:lpstr>Mixture of Experts inside Transformer Decoder</vt:lpstr>
      <vt:lpstr>Mixture of Experts: A probabilistic idea</vt:lpstr>
      <vt:lpstr>Mixture of Experts: Unifies Several Approaches</vt:lpstr>
      <vt:lpstr>Mixture of Experts: Some analysis</vt:lpstr>
      <vt:lpstr>Mixture of Experts: Some analysis</vt:lpstr>
      <vt:lpstr>Mixture of Experts: Some analysis</vt:lpstr>
      <vt:lpstr>Mixture of Experts: In LLMs</vt:lpstr>
      <vt:lpstr>Summary: From Transformer to GPT</vt:lpstr>
      <vt:lpstr>Summary: From GPT-1 to GPT-4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this template</dc:title>
  <dc:creator>Ben Lengerich</dc:creator>
  <cp:lastModifiedBy>Ben Lengerich</cp:lastModifiedBy>
  <cp:revision>425</cp:revision>
  <dcterms:created xsi:type="dcterms:W3CDTF">2025-01-01T15:28:57Z</dcterms:created>
  <dcterms:modified xsi:type="dcterms:W3CDTF">2025-11-17T14:08:53Z</dcterms:modified>
</cp:coreProperties>
</file>